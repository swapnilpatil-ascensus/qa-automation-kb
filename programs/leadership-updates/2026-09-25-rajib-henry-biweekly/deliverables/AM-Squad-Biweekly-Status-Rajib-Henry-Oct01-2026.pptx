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828800"/>
            <a:ext cx="128016" cy="292608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920240"/>
            <a:ext cx="10058400" cy="1097280"/>
          </a:xfrm>
          <a:prstGeom prst="rect">
            <a:avLst/>
          </a:prstGeom>
          <a:noFill/>
        </p:spPr>
        <p:txBody>
          <a:bodyPr wrap="none">
            <a:spAutoFit/>
          </a:bodyPr>
          <a:lstStyle/>
          <a:p>
            <a:pPr>
              <a:defRPr sz="4000" b="1">
                <a:solidFill>
                  <a:srgbClr val="FFFFFF"/>
                </a:solidFill>
              </a:defRPr>
            </a:pPr>
            <a:r>
              <a:t>QA Automation — AM Squad</a:t>
            </a:r>
          </a:p>
        </p:txBody>
      </p:sp>
      <p:sp>
        <p:nvSpPr>
          <p:cNvPr id="5" name="TextBox 4"/>
          <p:cNvSpPr txBox="1"/>
          <p:nvPr/>
        </p:nvSpPr>
        <p:spPr>
          <a:xfrm>
            <a:off x="548640" y="3063240"/>
            <a:ext cx="10058400" cy="548640"/>
          </a:xfrm>
          <a:prstGeom prst="rect">
            <a:avLst/>
          </a:prstGeom>
          <a:noFill/>
        </p:spPr>
        <p:txBody>
          <a:bodyPr wrap="none">
            <a:spAutoFit/>
          </a:bodyPr>
          <a:lstStyle/>
          <a:p>
            <a:pPr>
              <a:defRPr sz="1600">
                <a:solidFill>
                  <a:srgbClr val="00B388"/>
                </a:solidFill>
              </a:defRPr>
            </a:pPr>
            <a:r>
              <a:t>Biweekly Status · October 01, 2026 · 3:00 PM ET  (Rescheduled from Fri Sep 25)</a:t>
            </a:r>
          </a:p>
        </p:txBody>
      </p:sp>
      <p:sp>
        <p:nvSpPr>
          <p:cNvPr id="6" name="TextBox 5"/>
          <p:cNvSpPr txBox="1"/>
          <p:nvPr/>
        </p:nvSpPr>
        <p:spPr>
          <a:xfrm>
            <a:off x="548640" y="3840480"/>
            <a:ext cx="10058400" cy="457200"/>
          </a:xfrm>
          <a:prstGeom prst="rect">
            <a:avLst/>
          </a:prstGeom>
          <a:noFill/>
        </p:spPr>
        <p:txBody>
          <a:bodyPr wrap="none">
            <a:spAutoFit/>
          </a:bodyPr>
          <a:lstStyle/>
          <a:p>
            <a:pPr>
              <a:defRPr sz="1300">
                <a:solidFill>
                  <a:srgbClr val="64748B"/>
                </a:solidFill>
              </a:defRPr>
            </a:pPr>
            <a:r>
              <a:t>Rajib · Henry · Persistent Delivery Managers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Executive Pulse</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26.16 closeout → 26.17</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At a glance</a:t>
            </a:r>
          </a:p>
        </p:txBody>
      </p:sp>
      <p:sp>
        <p:nvSpPr>
          <p:cNvPr id="8" name="Rounded Rectangle 7"/>
          <p:cNvSpPr/>
          <p:nvPr/>
        </p:nvSpPr>
        <p:spPr>
          <a:xfrm>
            <a:off x="182880" y="1417320"/>
            <a:ext cx="233172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82880" y="1417320"/>
            <a:ext cx="2331720" cy="6400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581912"/>
            <a:ext cx="2103120" cy="320040"/>
          </a:xfrm>
          <a:prstGeom prst="rect">
            <a:avLst/>
          </a:prstGeom>
          <a:noFill/>
        </p:spPr>
        <p:txBody>
          <a:bodyPr wrap="none">
            <a:spAutoFit/>
          </a:bodyPr>
          <a:lstStyle/>
          <a:p>
            <a:pPr>
              <a:defRPr sz="1000">
                <a:solidFill>
                  <a:srgbClr val="64748B"/>
                </a:solidFill>
              </a:defRPr>
            </a:pPr>
            <a:r>
              <a:t>GitLab merges</a:t>
            </a:r>
          </a:p>
        </p:txBody>
      </p:sp>
      <p:sp>
        <p:nvSpPr>
          <p:cNvPr id="11" name="TextBox 10"/>
          <p:cNvSpPr txBox="1"/>
          <p:nvPr/>
        </p:nvSpPr>
        <p:spPr>
          <a:xfrm>
            <a:off x="320040" y="1874520"/>
            <a:ext cx="444352" cy="400110"/>
          </a:xfrm>
          <a:prstGeom prst="rect">
            <a:avLst/>
          </a:prstGeom>
          <a:noFill/>
        </p:spPr>
        <p:txBody>
          <a:bodyPr wrap="none">
            <a:spAutoFit/>
          </a:bodyPr>
          <a:lstStyle/>
          <a:p>
            <a:pPr>
              <a:defRPr sz="2600" b="1">
                <a:solidFill>
                  <a:srgbClr val="1A2332"/>
                </a:solidFill>
              </a:defRPr>
            </a:pPr>
            <a:r>
              <a:rPr lang="en-US" sz="2000" dirty="0"/>
              <a:t>18</a:t>
            </a:r>
            <a:endParaRPr sz="2000" dirty="0"/>
          </a:p>
        </p:txBody>
      </p:sp>
      <p:sp>
        <p:nvSpPr>
          <p:cNvPr id="12" name="TextBox 11"/>
          <p:cNvSpPr txBox="1"/>
          <p:nvPr/>
        </p:nvSpPr>
        <p:spPr>
          <a:xfrm>
            <a:off x="320040" y="2304288"/>
            <a:ext cx="2114681" cy="338554"/>
          </a:xfrm>
          <a:prstGeom prst="rect">
            <a:avLst/>
          </a:prstGeom>
          <a:noFill/>
        </p:spPr>
        <p:txBody>
          <a:bodyPr wrap="none">
            <a:spAutoFit/>
          </a:bodyPr>
          <a:lstStyle/>
          <a:p>
            <a:pPr>
              <a:defRPr sz="800">
                <a:solidFill>
                  <a:srgbClr val="64748B"/>
                </a:solidFill>
              </a:defRPr>
            </a:pPr>
            <a:r>
              <a:rPr dirty="0"/>
              <a:t>MSC coding + Bruno on main; V3 profile/bank </a:t>
            </a:r>
            <a:endParaRPr lang="en-US" dirty="0"/>
          </a:p>
          <a:p>
            <a:pPr>
              <a:defRPr sz="800">
                <a:solidFill>
                  <a:srgbClr val="64748B"/>
                </a:solidFill>
              </a:defRPr>
            </a:pPr>
            <a:r>
              <a:rPr dirty="0"/>
              <a:t>MRs landing</a:t>
            </a:r>
          </a:p>
        </p:txBody>
      </p:sp>
      <p:sp>
        <p:nvSpPr>
          <p:cNvPr id="13" name="Rounded Rectangle 12"/>
          <p:cNvSpPr/>
          <p:nvPr/>
        </p:nvSpPr>
        <p:spPr>
          <a:xfrm>
            <a:off x="2697480" y="1417320"/>
            <a:ext cx="233172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697480" y="1417320"/>
            <a:ext cx="2331720" cy="64008"/>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34640" y="1581912"/>
            <a:ext cx="1771639" cy="246221"/>
          </a:xfrm>
          <a:prstGeom prst="rect">
            <a:avLst/>
          </a:prstGeom>
          <a:noFill/>
        </p:spPr>
        <p:txBody>
          <a:bodyPr wrap="none">
            <a:spAutoFit/>
          </a:bodyPr>
          <a:lstStyle/>
          <a:p>
            <a:pPr>
              <a:defRPr sz="1000">
                <a:solidFill>
                  <a:srgbClr val="64748B"/>
                </a:solidFill>
              </a:defRPr>
            </a:pPr>
            <a:r>
              <a:rPr dirty="0"/>
              <a:t>Sprint 26.16 items</a:t>
            </a:r>
            <a:r>
              <a:rPr lang="en-US" dirty="0"/>
              <a:t> – Sub-Tasks</a:t>
            </a:r>
            <a:endParaRPr dirty="0"/>
          </a:p>
        </p:txBody>
      </p:sp>
      <p:sp>
        <p:nvSpPr>
          <p:cNvPr id="16" name="TextBox 15"/>
          <p:cNvSpPr txBox="1"/>
          <p:nvPr/>
        </p:nvSpPr>
        <p:spPr>
          <a:xfrm>
            <a:off x="2834640" y="1874520"/>
            <a:ext cx="574196" cy="400110"/>
          </a:xfrm>
          <a:prstGeom prst="rect">
            <a:avLst/>
          </a:prstGeom>
          <a:noFill/>
        </p:spPr>
        <p:txBody>
          <a:bodyPr wrap="none">
            <a:spAutoFit/>
          </a:bodyPr>
          <a:lstStyle/>
          <a:p>
            <a:pPr>
              <a:defRPr sz="2600" b="1">
                <a:solidFill>
                  <a:srgbClr val="1A2332"/>
                </a:solidFill>
              </a:defRPr>
            </a:pPr>
            <a:r>
              <a:rPr sz="2000"/>
              <a:t>180</a:t>
            </a:r>
          </a:p>
        </p:txBody>
      </p:sp>
      <p:sp>
        <p:nvSpPr>
          <p:cNvPr id="17" name="TextBox 16"/>
          <p:cNvSpPr txBox="1"/>
          <p:nvPr/>
        </p:nvSpPr>
        <p:spPr>
          <a:xfrm>
            <a:off x="2834640" y="2304288"/>
            <a:ext cx="2103120" cy="274320"/>
          </a:xfrm>
          <a:prstGeom prst="rect">
            <a:avLst/>
          </a:prstGeom>
          <a:noFill/>
        </p:spPr>
        <p:txBody>
          <a:bodyPr wrap="none">
            <a:spAutoFit/>
          </a:bodyPr>
          <a:lstStyle/>
          <a:p>
            <a:pPr>
              <a:defRPr sz="800">
                <a:solidFill>
                  <a:srgbClr val="64748B"/>
                </a:solidFill>
              </a:defRPr>
            </a:pPr>
            <a:r>
              <a:rPr dirty="0"/>
              <a:t>Board items across 26.16–26.17</a:t>
            </a:r>
          </a:p>
        </p:txBody>
      </p:sp>
      <p:sp>
        <p:nvSpPr>
          <p:cNvPr id="18" name="Rounded Rectangle 17"/>
          <p:cNvSpPr/>
          <p:nvPr/>
        </p:nvSpPr>
        <p:spPr>
          <a:xfrm>
            <a:off x="5166360" y="1417320"/>
            <a:ext cx="218398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66360" y="1417320"/>
            <a:ext cx="2183982" cy="64008"/>
          </a:xfrm>
          <a:prstGeom prst="rect">
            <a:avLst/>
          </a:prstGeom>
          <a:solidFill>
            <a:srgbClr val="003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0" y="1581912"/>
            <a:ext cx="1969866" cy="246221"/>
          </a:xfrm>
          <a:prstGeom prst="rect">
            <a:avLst/>
          </a:prstGeom>
          <a:noFill/>
        </p:spPr>
        <p:txBody>
          <a:bodyPr wrap="square">
            <a:spAutoFit/>
          </a:bodyPr>
          <a:lstStyle/>
          <a:p>
            <a:pPr>
              <a:defRPr sz="1000">
                <a:solidFill>
                  <a:srgbClr val="64748B"/>
                </a:solidFill>
              </a:defRPr>
            </a:pPr>
            <a:r>
              <a:t>MSC coding</a:t>
            </a:r>
          </a:p>
        </p:txBody>
      </p:sp>
      <p:sp>
        <p:nvSpPr>
          <p:cNvPr id="21" name="TextBox 20"/>
          <p:cNvSpPr txBox="1"/>
          <p:nvPr/>
        </p:nvSpPr>
        <p:spPr>
          <a:xfrm>
            <a:off x="5303520" y="1874520"/>
            <a:ext cx="1682496" cy="400110"/>
          </a:xfrm>
          <a:prstGeom prst="rect">
            <a:avLst/>
          </a:prstGeom>
          <a:noFill/>
        </p:spPr>
        <p:txBody>
          <a:bodyPr wrap="square">
            <a:spAutoFit/>
          </a:bodyPr>
          <a:lstStyle/>
          <a:p>
            <a:pPr>
              <a:defRPr sz="2600" b="1">
                <a:solidFill>
                  <a:srgbClr val="1A2332"/>
                </a:solidFill>
              </a:defRPr>
            </a:pPr>
            <a:r>
              <a:rPr sz="2000" dirty="0"/>
              <a:t>100%</a:t>
            </a:r>
          </a:p>
        </p:txBody>
      </p:sp>
      <p:sp>
        <p:nvSpPr>
          <p:cNvPr id="22" name="TextBox 21"/>
          <p:cNvSpPr txBox="1"/>
          <p:nvPr/>
        </p:nvSpPr>
        <p:spPr>
          <a:xfrm>
            <a:off x="5303520" y="2304288"/>
            <a:ext cx="1969866" cy="338554"/>
          </a:xfrm>
          <a:prstGeom prst="rect">
            <a:avLst/>
          </a:prstGeom>
          <a:noFill/>
        </p:spPr>
        <p:txBody>
          <a:bodyPr wrap="square">
            <a:spAutoFit/>
          </a:bodyPr>
          <a:lstStyle/>
          <a:p>
            <a:pPr>
              <a:defRPr sz="800">
                <a:solidFill>
                  <a:srgbClr val="64748B"/>
                </a:solidFill>
              </a:defRPr>
            </a:pPr>
            <a:r>
              <a:rPr dirty="0"/>
              <a:t>Coding 100% · SharePoint hub publishing · ENVP QA-600 closed</a:t>
            </a:r>
          </a:p>
        </p:txBody>
      </p:sp>
      <p:sp>
        <p:nvSpPr>
          <p:cNvPr id="23" name="Rounded Rectangle 22"/>
          <p:cNvSpPr/>
          <p:nvPr/>
        </p:nvSpPr>
        <p:spPr>
          <a:xfrm>
            <a:off x="7461504" y="1417320"/>
            <a:ext cx="218398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461504" y="1417320"/>
            <a:ext cx="2183982" cy="640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98664" y="1581912"/>
            <a:ext cx="1969866" cy="246221"/>
          </a:xfrm>
          <a:prstGeom prst="rect">
            <a:avLst/>
          </a:prstGeom>
          <a:noFill/>
        </p:spPr>
        <p:txBody>
          <a:bodyPr wrap="square">
            <a:spAutoFit/>
          </a:bodyPr>
          <a:lstStyle/>
          <a:p>
            <a:pPr>
              <a:defRPr sz="1000">
                <a:solidFill>
                  <a:srgbClr val="64748B"/>
                </a:solidFill>
              </a:defRPr>
            </a:pPr>
            <a:r>
              <a:t>Stage1 health</a:t>
            </a:r>
          </a:p>
        </p:txBody>
      </p:sp>
      <p:sp>
        <p:nvSpPr>
          <p:cNvPr id="26" name="TextBox 25"/>
          <p:cNvSpPr txBox="1"/>
          <p:nvPr/>
        </p:nvSpPr>
        <p:spPr>
          <a:xfrm>
            <a:off x="7598664" y="1874520"/>
            <a:ext cx="1856232" cy="400110"/>
          </a:xfrm>
          <a:prstGeom prst="rect">
            <a:avLst/>
          </a:prstGeom>
          <a:noFill/>
        </p:spPr>
        <p:txBody>
          <a:bodyPr wrap="square">
            <a:spAutoFit/>
          </a:bodyPr>
          <a:lstStyle/>
          <a:p>
            <a:pPr>
              <a:defRPr sz="2600" b="1">
                <a:solidFill>
                  <a:srgbClr val="1A2332"/>
                </a:solidFill>
              </a:defRPr>
            </a:pPr>
            <a:r>
              <a:rPr sz="2000"/>
              <a:t>Recovered</a:t>
            </a:r>
          </a:p>
        </p:txBody>
      </p:sp>
      <p:sp>
        <p:nvSpPr>
          <p:cNvPr id="27" name="TextBox 26"/>
          <p:cNvSpPr txBox="1"/>
          <p:nvPr/>
        </p:nvSpPr>
        <p:spPr>
          <a:xfrm>
            <a:off x="7598664" y="2304288"/>
            <a:ext cx="1969866" cy="215444"/>
          </a:xfrm>
          <a:prstGeom prst="rect">
            <a:avLst/>
          </a:prstGeom>
          <a:noFill/>
        </p:spPr>
        <p:txBody>
          <a:bodyPr wrap="square">
            <a:spAutoFit/>
          </a:bodyPr>
          <a:lstStyle/>
          <a:p>
            <a:pPr>
              <a:defRPr sz="800">
                <a:solidFill>
                  <a:srgbClr val="64748B"/>
                </a:solidFill>
              </a:defRPr>
            </a:pPr>
            <a:r>
              <a:t>Post DB-refresh / IDP co-work</a:t>
            </a:r>
          </a:p>
        </p:txBody>
      </p:sp>
      <p:sp>
        <p:nvSpPr>
          <p:cNvPr id="28" name="Rounded Rectangle 27"/>
          <p:cNvSpPr/>
          <p:nvPr/>
        </p:nvSpPr>
        <p:spPr>
          <a:xfrm>
            <a:off x="9774936" y="1417320"/>
            <a:ext cx="218398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774936" y="1417320"/>
            <a:ext cx="2183982"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12096" y="1581912"/>
            <a:ext cx="1969866" cy="246221"/>
          </a:xfrm>
          <a:prstGeom prst="rect">
            <a:avLst/>
          </a:prstGeom>
          <a:noFill/>
        </p:spPr>
        <p:txBody>
          <a:bodyPr wrap="square">
            <a:spAutoFit/>
          </a:bodyPr>
          <a:lstStyle/>
          <a:p>
            <a:pPr>
              <a:defRPr sz="1000">
                <a:solidFill>
                  <a:srgbClr val="64748B"/>
                </a:solidFill>
              </a:defRPr>
            </a:pPr>
            <a:r>
              <a:t>ETA track</a:t>
            </a:r>
          </a:p>
        </p:txBody>
      </p:sp>
      <p:sp>
        <p:nvSpPr>
          <p:cNvPr id="31" name="TextBox 30"/>
          <p:cNvSpPr txBox="1"/>
          <p:nvPr/>
        </p:nvSpPr>
        <p:spPr>
          <a:xfrm>
            <a:off x="9912096" y="1874520"/>
            <a:ext cx="2194560" cy="400110"/>
          </a:xfrm>
          <a:prstGeom prst="rect">
            <a:avLst/>
          </a:prstGeom>
          <a:noFill/>
        </p:spPr>
        <p:txBody>
          <a:bodyPr wrap="square">
            <a:spAutoFit/>
          </a:bodyPr>
          <a:lstStyle/>
          <a:p>
            <a:pPr>
              <a:defRPr sz="2600" b="1">
                <a:solidFill>
                  <a:srgbClr val="1A2332"/>
                </a:solidFill>
              </a:defRPr>
            </a:pPr>
            <a:r>
              <a:rPr sz="2000" dirty="0"/>
              <a:t>~70% of </a:t>
            </a:r>
            <a:r>
              <a:rPr lang="en-US" sz="2000" dirty="0"/>
              <a:t>Orig.</a:t>
            </a:r>
            <a:r>
              <a:rPr sz="2000" dirty="0"/>
              <a:t> ETA</a:t>
            </a:r>
          </a:p>
        </p:txBody>
      </p:sp>
      <p:sp>
        <p:nvSpPr>
          <p:cNvPr id="32" name="TextBox 31"/>
          <p:cNvSpPr txBox="1"/>
          <p:nvPr/>
        </p:nvSpPr>
        <p:spPr>
          <a:xfrm>
            <a:off x="9912096" y="2304288"/>
            <a:ext cx="1969866" cy="215444"/>
          </a:xfrm>
          <a:prstGeom prst="rect">
            <a:avLst/>
          </a:prstGeom>
          <a:noFill/>
        </p:spPr>
        <p:txBody>
          <a:bodyPr wrap="square">
            <a:spAutoFit/>
          </a:bodyPr>
          <a:lstStyle/>
          <a:p>
            <a:pPr>
              <a:defRPr sz="800">
                <a:solidFill>
                  <a:srgbClr val="64748B"/>
                </a:solidFill>
              </a:defRPr>
            </a:pPr>
            <a:r>
              <a:rPr dirty="0"/>
              <a:t>Ahead of original plan</a:t>
            </a:r>
          </a:p>
        </p:txBody>
      </p:sp>
      <p:sp>
        <p:nvSpPr>
          <p:cNvPr id="33" name="Rounded Rectangle 32"/>
          <p:cNvSpPr/>
          <p:nvPr/>
        </p:nvSpPr>
        <p:spPr>
          <a:xfrm>
            <a:off x="548640" y="2926080"/>
            <a:ext cx="11064240" cy="329184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48640" y="2926080"/>
            <a:ext cx="64008" cy="329184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8" y="3035808"/>
            <a:ext cx="10744200" cy="320040"/>
          </a:xfrm>
          <a:prstGeom prst="rect">
            <a:avLst/>
          </a:prstGeom>
          <a:noFill/>
        </p:spPr>
        <p:txBody>
          <a:bodyPr wrap="none">
            <a:spAutoFit/>
          </a:bodyPr>
          <a:lstStyle/>
          <a:p>
            <a:pPr>
              <a:defRPr sz="1200" b="1">
                <a:solidFill>
                  <a:srgbClr val="003241"/>
                </a:solidFill>
              </a:defRPr>
            </a:pPr>
            <a:r>
              <a:t>What leadership should know</a:t>
            </a:r>
          </a:p>
        </p:txBody>
      </p:sp>
      <p:sp>
        <p:nvSpPr>
          <p:cNvPr id="36" name="TextBox 35"/>
          <p:cNvSpPr txBox="1"/>
          <p:nvPr/>
        </p:nvSpPr>
        <p:spPr>
          <a:xfrm>
            <a:off x="749808" y="3364992"/>
            <a:ext cx="10744200" cy="2788920"/>
          </a:xfrm>
          <a:prstGeom prst="rect">
            <a:avLst/>
          </a:prstGeom>
          <a:noFill/>
        </p:spPr>
        <p:txBody>
          <a:bodyPr wrap="square"/>
          <a:lstStyle/>
          <a:p>
            <a:pPr>
              <a:lnSpc>
                <a:spcPct val="105000"/>
              </a:lnSpc>
              <a:spcAft>
                <a:spcPts val="300"/>
              </a:spcAft>
              <a:defRPr sz="950">
                <a:solidFill>
                  <a:srgbClr val="1A2332"/>
                </a:solidFill>
              </a:defRPr>
            </a:pPr>
            <a:r>
              <a:rPr sz="1200" dirty="0"/>
              <a:t>• MSC coding 100% · ENVP QA-600 closed · SharePoint hub publishing next</a:t>
            </a:r>
          </a:p>
          <a:p>
            <a:pPr>
              <a:lnSpc>
                <a:spcPct val="105000"/>
              </a:lnSpc>
              <a:spcAft>
                <a:spcPts val="300"/>
              </a:spcAft>
              <a:defRPr sz="950">
                <a:solidFill>
                  <a:srgbClr val="1A2332"/>
                </a:solidFill>
              </a:defRPr>
            </a:pPr>
            <a:r>
              <a:rPr sz="1200" dirty="0"/>
              <a:t>• Perf regression healthy · Enrollment MSC perf is last MSC perf gap</a:t>
            </a:r>
          </a:p>
          <a:p>
            <a:pPr>
              <a:lnSpc>
                <a:spcPct val="105000"/>
              </a:lnSpc>
              <a:spcAft>
                <a:spcPts val="300"/>
              </a:spcAft>
              <a:defRPr sz="950">
                <a:solidFill>
                  <a:srgbClr val="1A2332"/>
                </a:solidFill>
              </a:defRPr>
            </a:pPr>
            <a:r>
              <a:rPr sz="1200" dirty="0"/>
              <a:t>• API GitLab nightly still pending DevOps (batch/job ready — need DB files + owner)</a:t>
            </a:r>
          </a:p>
          <a:p>
            <a:pPr>
              <a:lnSpc>
                <a:spcPct val="105000"/>
              </a:lnSpc>
              <a:spcAft>
                <a:spcPts val="300"/>
              </a:spcAft>
              <a:defRPr sz="950">
                <a:solidFill>
                  <a:srgbClr val="1A2332"/>
                </a:solidFill>
              </a:defRPr>
            </a:pPr>
            <a:r>
              <a:rPr sz="1200" dirty="0"/>
              <a:t>• Critical asks: MFA Stage1 support · Stage5/CAT takeover · V3 IDP/UE sustaining owner</a:t>
            </a:r>
          </a:p>
        </p:txBody>
      </p:sp>
      <p:sp>
        <p:nvSpPr>
          <p:cNvPr id="37" name="Rectangle 36"/>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Sources: Jira AMSQUAD board · GitLab (3 repos) · Jenkins/GitLab nightly logs</a:t>
            </a:r>
          </a:p>
        </p:txBody>
      </p:sp>
      <p:sp>
        <p:nvSpPr>
          <p:cNvPr id="39" name="TextBox 38"/>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Sprint Delivery Focus</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Sprints 26.15 · 26.16 (current)</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Delivery</a:t>
            </a:r>
          </a:p>
        </p:txBody>
      </p:sp>
      <p:pic>
        <p:nvPicPr>
          <p:cNvPr id="8" name="Picture 7" descr="02-sprint-focus-mix.png"/>
          <p:cNvPicPr>
            <a:picLocks noChangeAspect="1"/>
          </p:cNvPicPr>
          <p:nvPr/>
        </p:nvPicPr>
        <p:blipFill>
          <a:blip r:embed="rId2"/>
          <a:stretch>
            <a:fillRect/>
          </a:stretch>
        </p:blipFill>
        <p:spPr>
          <a:xfrm>
            <a:off x="548640" y="1325880"/>
            <a:ext cx="5669280" cy="3444041"/>
          </a:xfrm>
          <a:prstGeom prst="rect">
            <a:avLst/>
          </a:prstGeom>
        </p:spPr>
      </p:pic>
      <p:sp>
        <p:nvSpPr>
          <p:cNvPr id="9" name="Rounded Rectangle 8"/>
          <p:cNvSpPr/>
          <p:nvPr/>
        </p:nvSpPr>
        <p:spPr>
          <a:xfrm>
            <a:off x="6400800" y="1325880"/>
            <a:ext cx="5212080" cy="502920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325880"/>
            <a:ext cx="64008" cy="502920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Key messages</a:t>
            </a:r>
          </a:p>
        </p:txBody>
      </p:sp>
      <p:sp>
        <p:nvSpPr>
          <p:cNvPr id="12" name="TextBox 11"/>
          <p:cNvSpPr txBox="1"/>
          <p:nvPr/>
        </p:nvSpPr>
        <p:spPr>
          <a:xfrm>
            <a:off x="6601968" y="1764792"/>
            <a:ext cx="4892040" cy="4526280"/>
          </a:xfrm>
          <a:prstGeom prst="rect">
            <a:avLst/>
          </a:prstGeom>
          <a:noFill/>
        </p:spPr>
        <p:txBody>
          <a:bodyPr wrap="square"/>
          <a:lstStyle/>
          <a:p>
            <a:pPr>
              <a:lnSpc>
                <a:spcPct val="105000"/>
              </a:lnSpc>
              <a:spcAft>
                <a:spcPts val="300"/>
              </a:spcAft>
              <a:defRPr sz="900">
                <a:solidFill>
                  <a:srgbClr val="1A2332"/>
                </a:solidFill>
              </a:defRPr>
            </a:pPr>
            <a:r>
              <a:rPr sz="1200" dirty="0"/>
              <a:t>• Sprint 26.15: QA-1938 merged (!268); Bruno Postman migration started</a:t>
            </a:r>
          </a:p>
          <a:p>
            <a:pPr>
              <a:lnSpc>
                <a:spcPct val="105000"/>
              </a:lnSpc>
              <a:spcAft>
                <a:spcPts val="300"/>
              </a:spcAft>
              <a:defRPr sz="900">
                <a:solidFill>
                  <a:srgbClr val="1A2332"/>
                </a:solidFill>
              </a:defRPr>
            </a:pPr>
            <a:r>
              <a:rPr sz="1200" dirty="0"/>
              <a:t>• Sprint 26.16: MSC wrap-up (SharePoint, </a:t>
            </a:r>
            <a:r>
              <a:rPr sz="1200" dirty="0" err="1"/>
              <a:t>qTest</a:t>
            </a:r>
            <a:r>
              <a:rPr sz="1200" dirty="0"/>
              <a:t>, QC4) + V2/V3 gap execution</a:t>
            </a:r>
          </a:p>
          <a:p>
            <a:pPr>
              <a:lnSpc>
                <a:spcPct val="105000"/>
              </a:lnSpc>
              <a:spcAft>
                <a:spcPts val="300"/>
              </a:spcAft>
              <a:defRPr sz="900">
                <a:solidFill>
                  <a:srgbClr val="1A2332"/>
                </a:solidFill>
              </a:defRPr>
            </a:pPr>
            <a:r>
              <a:rPr sz="1200" dirty="0"/>
              <a:t>• Perf: M2 done · M1 done by Sep 26 · Enrollment remaining · Jenkins jobs ready</a:t>
            </a:r>
          </a:p>
          <a:p>
            <a:pPr>
              <a:lnSpc>
                <a:spcPct val="105000"/>
              </a:lnSpc>
              <a:spcAft>
                <a:spcPts val="300"/>
              </a:spcAft>
              <a:defRPr sz="900">
                <a:solidFill>
                  <a:srgbClr val="1A2332"/>
                </a:solidFill>
              </a:defRPr>
            </a:pPr>
            <a:r>
              <a:rPr sz="1200" dirty="0"/>
              <a:t>• V2→V3: Venkatesh</a:t>
            </a:r>
            <a:r>
              <a:rPr lang="en-US" sz="1200" dirty="0"/>
              <a:t>/Sunil</a:t>
            </a:r>
            <a:r>
              <a:rPr sz="1200" dirty="0"/>
              <a:t> enroll/login/reg almost done; member flows migrating to V3</a:t>
            </a:r>
          </a:p>
        </p:txBody>
      </p:sp>
      <p:sp>
        <p:nvSpPr>
          <p:cNvPr id="13" name="Rectangle 12"/>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Relative effort index — not FTE hours</a:t>
            </a:r>
          </a:p>
        </p:txBody>
      </p:sp>
      <p:sp>
        <p:nvSpPr>
          <p:cNvPr id="15" name="TextBox 14"/>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Unite MSC — Program Status</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Mobile 2 100% · Mobile 1 100% · Enrollment 100%</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MSC</a:t>
            </a:r>
          </a:p>
        </p:txBody>
      </p:sp>
      <p:pic>
        <p:nvPicPr>
          <p:cNvPr id="8" name="Picture 7" descr="01-msc-progress.png"/>
          <p:cNvPicPr>
            <a:picLocks noChangeAspect="1"/>
          </p:cNvPicPr>
          <p:nvPr/>
        </p:nvPicPr>
        <p:blipFill>
          <a:blip r:embed="rId2"/>
          <a:stretch>
            <a:fillRect/>
          </a:stretch>
        </p:blipFill>
        <p:spPr>
          <a:xfrm>
            <a:off x="548640" y="1325880"/>
            <a:ext cx="5669280" cy="3342920"/>
          </a:xfrm>
          <a:prstGeom prst="rect">
            <a:avLst/>
          </a:prstGeom>
        </p:spPr>
      </p:pic>
      <p:sp>
        <p:nvSpPr>
          <p:cNvPr id="9" name="Rounded Rectangle 8"/>
          <p:cNvSpPr/>
          <p:nvPr/>
        </p:nvSpPr>
        <p:spPr>
          <a:xfrm>
            <a:off x="6400800" y="1325880"/>
            <a:ext cx="5212080" cy="507492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325880"/>
            <a:ext cx="64008" cy="507492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Key messages</a:t>
            </a:r>
          </a:p>
        </p:txBody>
      </p:sp>
      <p:sp>
        <p:nvSpPr>
          <p:cNvPr id="12" name="TextBox 11"/>
          <p:cNvSpPr txBox="1"/>
          <p:nvPr/>
        </p:nvSpPr>
        <p:spPr>
          <a:xfrm>
            <a:off x="6601968" y="1764792"/>
            <a:ext cx="4892040" cy="4572000"/>
          </a:xfrm>
          <a:prstGeom prst="rect">
            <a:avLst/>
          </a:prstGeom>
          <a:noFill/>
        </p:spPr>
        <p:txBody>
          <a:bodyPr wrap="square"/>
          <a:lstStyle/>
          <a:p>
            <a:pPr>
              <a:lnSpc>
                <a:spcPct val="105000"/>
              </a:lnSpc>
              <a:spcAft>
                <a:spcPts val="300"/>
              </a:spcAft>
              <a:defRPr sz="900">
                <a:solidFill>
                  <a:srgbClr val="1A2332"/>
                </a:solidFill>
              </a:defRPr>
            </a:pPr>
            <a:r>
              <a:rPr sz="1200" dirty="0"/>
              <a:t>• Mobile 2: 25/25 endpoints — sign-off ready</a:t>
            </a:r>
          </a:p>
          <a:p>
            <a:pPr>
              <a:lnSpc>
                <a:spcPct val="105000"/>
              </a:lnSpc>
              <a:spcAft>
                <a:spcPts val="300"/>
              </a:spcAft>
              <a:defRPr sz="900">
                <a:solidFill>
                  <a:srgbClr val="1A2332"/>
                </a:solidFill>
              </a:defRPr>
            </a:pPr>
            <a:r>
              <a:rPr sz="1200" dirty="0"/>
              <a:t>• Mobile 1: 26/26 in-scope operations — sign-off ready</a:t>
            </a:r>
          </a:p>
          <a:p>
            <a:pPr>
              <a:lnSpc>
                <a:spcPct val="105000"/>
              </a:lnSpc>
              <a:spcAft>
                <a:spcPts val="300"/>
              </a:spcAft>
              <a:defRPr sz="900">
                <a:solidFill>
                  <a:srgbClr val="1A2332"/>
                </a:solidFill>
              </a:defRPr>
            </a:pPr>
            <a:r>
              <a:rPr sz="1200" dirty="0"/>
              <a:t>• Enrollment: 25/28 catalog (100%)</a:t>
            </a:r>
            <a:r>
              <a:rPr lang="en-US" sz="1200" dirty="0"/>
              <a:t> — sign-off ready </a:t>
            </a:r>
            <a:r>
              <a:rPr lang="en-US" sz="1200" i="1" dirty="0"/>
              <a:t>(</a:t>
            </a:r>
            <a:r>
              <a:rPr sz="1200" i="1" dirty="0"/>
              <a:t>standard 15/15 + subsequent 5/5</a:t>
            </a:r>
            <a:r>
              <a:rPr lang="en-US" sz="1200" i="1" dirty="0"/>
              <a:t>)</a:t>
            </a:r>
            <a:endParaRPr sz="1200" i="1" dirty="0"/>
          </a:p>
          <a:p>
            <a:pPr>
              <a:lnSpc>
                <a:spcPct val="105000"/>
              </a:lnSpc>
              <a:spcAft>
                <a:spcPts val="300"/>
              </a:spcAft>
              <a:defRPr sz="900">
                <a:solidFill>
                  <a:srgbClr val="1A2332"/>
                </a:solidFill>
              </a:defRPr>
            </a:pPr>
            <a:r>
              <a:rPr sz="1200" dirty="0"/>
              <a:t>• Deferred: Partner submit (QA-1808), Upromise (QA-1807), OAuth token</a:t>
            </a:r>
          </a:p>
          <a:p>
            <a:pPr>
              <a:lnSpc>
                <a:spcPct val="105000"/>
              </a:lnSpc>
              <a:spcAft>
                <a:spcPts val="300"/>
              </a:spcAft>
              <a:defRPr sz="900">
                <a:solidFill>
                  <a:srgbClr val="1A2332"/>
                </a:solidFill>
              </a:defRPr>
            </a:pPr>
            <a:r>
              <a:rPr sz="1200" dirty="0"/>
              <a:t>• Wrap-up: SharePoint KT hub publish (parent + 11 children)</a:t>
            </a:r>
            <a:r>
              <a:rPr lang="en-US" sz="1200" dirty="0"/>
              <a:t> – Almost Done</a:t>
            </a:r>
            <a:r>
              <a:rPr sz="1200" dirty="0"/>
              <a:t>, Enrollment performance (Preeti)…</a:t>
            </a:r>
          </a:p>
          <a:p>
            <a:pPr>
              <a:lnSpc>
                <a:spcPct val="105000"/>
              </a:lnSpc>
              <a:spcAft>
                <a:spcPts val="300"/>
              </a:spcAft>
              <a:defRPr sz="900">
                <a:solidFill>
                  <a:srgbClr val="1A2332"/>
                </a:solidFill>
              </a:defRPr>
            </a:pPr>
            <a:r>
              <a:rPr sz="1200" dirty="0"/>
              <a:t>• Target: SharePoint publish this sprint · API nightly when DevOps owns · Enrollment perf closes MSC perf</a:t>
            </a:r>
          </a:p>
        </p:txBody>
      </p:sp>
      <p:sp>
        <p:nvSpPr>
          <p:cNvPr id="13" name="Rectangle 12"/>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Coding complete. Docs publishing in flight. API nightly blocked on DevOps ownership — not on missing automation design.</a:t>
            </a:r>
          </a:p>
        </p:txBody>
      </p:sp>
      <p:sp>
        <p:nvSpPr>
          <p:cNvPr id="15" name="TextBox 14"/>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Enrollment — Endpoint Coverage</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Core E2E 15/15 · Catalog 25/28</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Enrollment</a:t>
            </a:r>
          </a:p>
        </p:txBody>
      </p:sp>
      <p:pic>
        <p:nvPicPr>
          <p:cNvPr id="8" name="Picture 7" descr="05-enrollment-endpoint-coverage.png"/>
          <p:cNvPicPr>
            <a:picLocks noChangeAspect="1"/>
          </p:cNvPicPr>
          <p:nvPr/>
        </p:nvPicPr>
        <p:blipFill>
          <a:blip r:embed="rId2"/>
          <a:stretch>
            <a:fillRect/>
          </a:stretch>
        </p:blipFill>
        <p:spPr>
          <a:xfrm>
            <a:off x="548640" y="1325880"/>
            <a:ext cx="5669280" cy="3220337"/>
          </a:xfrm>
          <a:prstGeom prst="rect">
            <a:avLst/>
          </a:prstGeom>
        </p:spPr>
      </p:pic>
      <p:sp>
        <p:nvSpPr>
          <p:cNvPr id="9" name="Rounded Rectangle 8"/>
          <p:cNvSpPr/>
          <p:nvPr/>
        </p:nvSpPr>
        <p:spPr>
          <a:xfrm>
            <a:off x="6400800" y="1325880"/>
            <a:ext cx="5212080" cy="507492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325880"/>
            <a:ext cx="64008" cy="507492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Key messages</a:t>
            </a:r>
          </a:p>
        </p:txBody>
      </p:sp>
      <p:sp>
        <p:nvSpPr>
          <p:cNvPr id="12" name="TextBox 11"/>
          <p:cNvSpPr txBox="1"/>
          <p:nvPr/>
        </p:nvSpPr>
        <p:spPr>
          <a:xfrm>
            <a:off x="6601968" y="1764792"/>
            <a:ext cx="4892040" cy="4572000"/>
          </a:xfrm>
          <a:prstGeom prst="rect">
            <a:avLst/>
          </a:prstGeom>
          <a:noFill/>
        </p:spPr>
        <p:txBody>
          <a:bodyPr wrap="square"/>
          <a:lstStyle/>
          <a:p>
            <a:pPr>
              <a:lnSpc>
                <a:spcPct val="105000"/>
              </a:lnSpc>
              <a:spcAft>
                <a:spcPts val="300"/>
              </a:spcAft>
              <a:defRPr sz="900">
                <a:solidFill>
                  <a:srgbClr val="1A2332"/>
                </a:solidFill>
              </a:defRPr>
            </a:pPr>
            <a:r>
              <a:rPr sz="1200" dirty="0"/>
              <a:t>• 25 TestNG classes on main — standard + subsequent E2E complete</a:t>
            </a:r>
          </a:p>
          <a:p>
            <a:pPr>
              <a:lnSpc>
                <a:spcPct val="105000"/>
              </a:lnSpc>
              <a:spcAft>
                <a:spcPts val="300"/>
              </a:spcAft>
              <a:defRPr sz="900">
                <a:solidFill>
                  <a:srgbClr val="1A2332"/>
                </a:solidFill>
              </a:defRPr>
            </a:pPr>
            <a:r>
              <a:rPr sz="1200" dirty="0"/>
              <a:t>• MR !268 (QA-1938) merged Sep 11 · Bruno M1/M2/Enrollment merged Sep 21 (!271)</a:t>
            </a:r>
          </a:p>
          <a:p>
            <a:pPr>
              <a:lnSpc>
                <a:spcPct val="105000"/>
              </a:lnSpc>
              <a:spcAft>
                <a:spcPts val="300"/>
              </a:spcAft>
              <a:defRPr sz="900">
                <a:solidFill>
                  <a:srgbClr val="1A2332"/>
                </a:solidFill>
              </a:defRPr>
            </a:pPr>
            <a:r>
              <a:rPr sz="1200" dirty="0"/>
              <a:t>• 3 deferred partner endpoints: Partner submit (QA-1808), Upromise (QA-1807), OAuth token</a:t>
            </a:r>
          </a:p>
          <a:p>
            <a:pPr>
              <a:lnSpc>
                <a:spcPct val="105000"/>
              </a:lnSpc>
              <a:spcAft>
                <a:spcPts val="300"/>
              </a:spcAft>
              <a:defRPr sz="900">
                <a:solidFill>
                  <a:srgbClr val="1A2332"/>
                </a:solidFill>
              </a:defRPr>
            </a:pPr>
            <a:r>
              <a:rPr sz="1200" dirty="0"/>
              <a:t>• Wrap-up: SharePoint KT, </a:t>
            </a:r>
            <a:r>
              <a:rPr sz="1200" dirty="0" err="1"/>
              <a:t>qTest</a:t>
            </a:r>
            <a:r>
              <a:rPr sz="1200" dirty="0"/>
              <a:t> manual cases, QC4 E2E proof — end Sprint 26.16</a:t>
            </a:r>
          </a:p>
          <a:p>
            <a:pPr>
              <a:lnSpc>
                <a:spcPct val="105000"/>
              </a:lnSpc>
              <a:spcAft>
                <a:spcPts val="300"/>
              </a:spcAft>
              <a:defRPr sz="900">
                <a:solidFill>
                  <a:srgbClr val="1A2332"/>
                </a:solidFill>
              </a:defRPr>
            </a:pPr>
            <a:r>
              <a:rPr sz="1200" dirty="0"/>
              <a:t>• KB: programs/unite-</a:t>
            </a:r>
            <a:r>
              <a:rPr sz="1200" dirty="0" err="1"/>
              <a:t>msc</a:t>
            </a:r>
            <a:r>
              <a:rPr sz="1200" dirty="0"/>
              <a:t>/</a:t>
            </a:r>
            <a:r>
              <a:rPr sz="1200" dirty="0" err="1"/>
              <a:t>api</a:t>
            </a:r>
            <a:r>
              <a:rPr sz="1200" dirty="0"/>
              <a:t>-test-automation/mappings/enrollment-endpoint-current-state.csv</a:t>
            </a:r>
          </a:p>
        </p:txBody>
      </p:sp>
      <p:sp>
        <p:nvSpPr>
          <p:cNvPr id="13" name="Rectangle 12"/>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Repo: api-test-automation/mobile/enrollment</a:t>
            </a:r>
          </a:p>
        </p:txBody>
      </p:sp>
      <p:sp>
        <p:nvSpPr>
          <p:cNvPr id="15" name="TextBox 14"/>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Team Status by Owner</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Sprint 26.17 — who is doing what</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Team</a:t>
            </a:r>
          </a:p>
        </p:txBody>
      </p:sp>
      <p:sp>
        <p:nvSpPr>
          <p:cNvPr id="8" name="Rounded Rectangle 7"/>
          <p:cNvSpPr/>
          <p:nvPr/>
        </p:nvSpPr>
        <p:spPr>
          <a:xfrm>
            <a:off x="548640" y="1325880"/>
            <a:ext cx="5486400" cy="228600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64008" cy="2286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35608"/>
            <a:ext cx="5166360" cy="320040"/>
          </a:xfrm>
          <a:prstGeom prst="rect">
            <a:avLst/>
          </a:prstGeom>
          <a:noFill/>
        </p:spPr>
        <p:txBody>
          <a:bodyPr wrap="none">
            <a:spAutoFit/>
          </a:bodyPr>
          <a:lstStyle/>
          <a:p>
            <a:pPr>
              <a:defRPr sz="1200" b="1">
                <a:solidFill>
                  <a:srgbClr val="003241"/>
                </a:solidFill>
              </a:defRPr>
            </a:pPr>
            <a:r>
              <a:t>Preeti — Performance</a:t>
            </a:r>
          </a:p>
        </p:txBody>
      </p:sp>
      <p:sp>
        <p:nvSpPr>
          <p:cNvPr id="11" name="TextBox 10"/>
          <p:cNvSpPr txBox="1"/>
          <p:nvPr/>
        </p:nvSpPr>
        <p:spPr>
          <a:xfrm>
            <a:off x="749808" y="1764792"/>
            <a:ext cx="5166360" cy="1783080"/>
          </a:xfrm>
          <a:prstGeom prst="rect">
            <a:avLst/>
          </a:prstGeom>
          <a:noFill/>
        </p:spPr>
        <p:txBody>
          <a:bodyPr wrap="square"/>
          <a:lstStyle/>
          <a:p>
            <a:pPr>
              <a:lnSpc>
                <a:spcPct val="105000"/>
              </a:lnSpc>
              <a:spcAft>
                <a:spcPts val="300"/>
              </a:spcAft>
              <a:defRPr sz="850">
                <a:solidFill>
                  <a:srgbClr val="1A2332"/>
                </a:solidFill>
              </a:defRPr>
            </a:pPr>
            <a:r>
              <a:rPr sz="1200"/>
              <a:t>• Mobile 2: Done</a:t>
            </a:r>
          </a:p>
          <a:p>
            <a:pPr>
              <a:lnSpc>
                <a:spcPct val="105000"/>
              </a:lnSpc>
              <a:spcAft>
                <a:spcPts val="300"/>
              </a:spcAft>
              <a:defRPr sz="850">
                <a:solidFill>
                  <a:srgbClr val="1A2332"/>
                </a:solidFill>
              </a:defRPr>
            </a:pPr>
            <a:r>
              <a:rPr sz="1200"/>
              <a:t>• Mobile 1: Done</a:t>
            </a:r>
          </a:p>
          <a:p>
            <a:pPr>
              <a:lnSpc>
                <a:spcPct val="105000"/>
              </a:lnSpc>
              <a:spcAft>
                <a:spcPts val="300"/>
              </a:spcAft>
              <a:defRPr sz="850">
                <a:solidFill>
                  <a:srgbClr val="1A2332"/>
                </a:solidFill>
              </a:defRPr>
            </a:pPr>
            <a:r>
              <a:rPr sz="1200"/>
              <a:t>• Enrollment: Remaining MSC perf gap — in progress</a:t>
            </a:r>
          </a:p>
          <a:p>
            <a:pPr>
              <a:lnSpc>
                <a:spcPct val="105000"/>
              </a:lnSpc>
              <a:spcAft>
                <a:spcPts val="300"/>
              </a:spcAft>
              <a:defRPr sz="850">
                <a:solidFill>
                  <a:srgbClr val="1A2332"/>
                </a:solidFill>
              </a:defRPr>
            </a:pPr>
            <a:r>
              <a:rPr sz="1200"/>
              <a:t>• Perf Jenkins jobs ready and running — performance regression healthy</a:t>
            </a:r>
          </a:p>
        </p:txBody>
      </p:sp>
      <p:sp>
        <p:nvSpPr>
          <p:cNvPr id="12" name="Rounded Rectangle 11"/>
          <p:cNvSpPr/>
          <p:nvPr/>
        </p:nvSpPr>
        <p:spPr>
          <a:xfrm>
            <a:off x="6400800" y="1325880"/>
            <a:ext cx="5212080" cy="228600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1325880"/>
            <a:ext cx="64008" cy="2286000"/>
          </a:xfrm>
          <a:prstGeom prst="rect">
            <a:avLst/>
          </a:prstGeom>
          <a:solidFill>
            <a:srgbClr val="003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Venkatesh — V2</a:t>
            </a:r>
          </a:p>
        </p:txBody>
      </p:sp>
      <p:sp>
        <p:nvSpPr>
          <p:cNvPr id="15" name="TextBox 14"/>
          <p:cNvSpPr txBox="1"/>
          <p:nvPr/>
        </p:nvSpPr>
        <p:spPr>
          <a:xfrm>
            <a:off x="6601968" y="1764792"/>
            <a:ext cx="4892040" cy="1783080"/>
          </a:xfrm>
          <a:prstGeom prst="rect">
            <a:avLst/>
          </a:prstGeom>
          <a:noFill/>
        </p:spPr>
        <p:txBody>
          <a:bodyPr wrap="square"/>
          <a:lstStyle/>
          <a:p>
            <a:pPr>
              <a:lnSpc>
                <a:spcPct val="105000"/>
              </a:lnSpc>
              <a:spcAft>
                <a:spcPts val="300"/>
              </a:spcAft>
              <a:defRPr sz="850">
                <a:solidFill>
                  <a:srgbClr val="1A2332"/>
                </a:solidFill>
              </a:defRPr>
            </a:pPr>
            <a:r>
              <a:rPr sz="1200"/>
              <a:t>• Enroll/login/reg retire-or-migrate largely complete</a:t>
            </a:r>
          </a:p>
          <a:p>
            <a:pPr>
              <a:lnSpc>
                <a:spcPct val="105000"/>
              </a:lnSpc>
              <a:spcAft>
                <a:spcPts val="300"/>
              </a:spcAft>
              <a:defRPr sz="850">
                <a:solidFill>
                  <a:srgbClr val="1A2332"/>
                </a:solidFill>
              </a:defRPr>
            </a:pPr>
            <a:r>
              <a:rPr sz="1200"/>
              <a:t>• Member flows → V3 for Direct→universal; CSR Actions on Stage1 nightly (+39 methods Sep)</a:t>
            </a:r>
          </a:p>
          <a:p>
            <a:pPr>
              <a:lnSpc>
                <a:spcPct val="105000"/>
              </a:lnSpc>
              <a:spcAft>
                <a:spcPts val="300"/>
              </a:spcAft>
              <a:defRPr sz="850">
                <a:solidFill>
                  <a:srgbClr val="1A2332"/>
                </a:solidFill>
              </a:defRPr>
            </a:pPr>
            <a:r>
              <a:rPr sz="1200"/>
              <a:t>• Continue V2 gap closure; Stage5 regression needs handover owner</a:t>
            </a:r>
          </a:p>
        </p:txBody>
      </p:sp>
      <p:sp>
        <p:nvSpPr>
          <p:cNvPr id="16" name="Rounded Rectangle 15"/>
          <p:cNvSpPr/>
          <p:nvPr/>
        </p:nvSpPr>
        <p:spPr>
          <a:xfrm>
            <a:off x="548640" y="3794760"/>
            <a:ext cx="11064240" cy="219456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3794760"/>
            <a:ext cx="64008" cy="219456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904488"/>
            <a:ext cx="5996513" cy="276999"/>
          </a:xfrm>
          <a:prstGeom prst="rect">
            <a:avLst/>
          </a:prstGeom>
          <a:noFill/>
        </p:spPr>
        <p:txBody>
          <a:bodyPr wrap="none">
            <a:spAutoFit/>
          </a:bodyPr>
          <a:lstStyle/>
          <a:p>
            <a:pPr>
              <a:defRPr sz="1200" b="1">
                <a:solidFill>
                  <a:srgbClr val="003241"/>
                </a:solidFill>
              </a:defRPr>
            </a:pPr>
            <a:r>
              <a:rPr lang="en-US" dirty="0"/>
              <a:t>Sunil</a:t>
            </a:r>
            <a:r>
              <a:rPr dirty="0"/>
              <a:t> — V3 </a:t>
            </a:r>
            <a:r>
              <a:rPr lang="en-US" dirty="0"/>
              <a:t>(Gaps &amp; Enhancements) </a:t>
            </a:r>
            <a:r>
              <a:rPr dirty="0"/>
              <a:t>· Dinesh — MSC wrap-up</a:t>
            </a:r>
            <a:r>
              <a:rPr lang="en-US" dirty="0"/>
              <a:t> &amp; V3 fine Tune, migration util</a:t>
            </a:r>
            <a:endParaRPr dirty="0"/>
          </a:p>
        </p:txBody>
      </p:sp>
      <p:sp>
        <p:nvSpPr>
          <p:cNvPr id="19" name="TextBox 18"/>
          <p:cNvSpPr txBox="1"/>
          <p:nvPr/>
        </p:nvSpPr>
        <p:spPr>
          <a:xfrm>
            <a:off x="749808" y="4233672"/>
            <a:ext cx="10744200" cy="1691640"/>
          </a:xfrm>
          <a:prstGeom prst="rect">
            <a:avLst/>
          </a:prstGeom>
          <a:noFill/>
        </p:spPr>
        <p:txBody>
          <a:bodyPr wrap="square"/>
          <a:lstStyle/>
          <a:p>
            <a:pPr>
              <a:lnSpc>
                <a:spcPct val="105000"/>
              </a:lnSpc>
              <a:spcAft>
                <a:spcPts val="300"/>
              </a:spcAft>
              <a:defRPr sz="850">
                <a:solidFill>
                  <a:srgbClr val="1A2332"/>
                </a:solidFill>
              </a:defRPr>
            </a:pPr>
            <a:r>
              <a:rPr sz="1200" dirty="0"/>
              <a:t>• </a:t>
            </a:r>
            <a:r>
              <a:rPr lang="en-US" sz="1200" dirty="0"/>
              <a:t>Sunil</a:t>
            </a:r>
            <a:r>
              <a:rPr sz="1200" dirty="0"/>
              <a:t>: V3 IDP profile + enrollment coverage continuing</a:t>
            </a:r>
          </a:p>
          <a:p>
            <a:pPr>
              <a:lnSpc>
                <a:spcPct val="105000"/>
              </a:lnSpc>
              <a:spcAft>
                <a:spcPts val="300"/>
              </a:spcAft>
              <a:defRPr sz="850">
                <a:solidFill>
                  <a:srgbClr val="1A2332"/>
                </a:solidFill>
              </a:defRPr>
            </a:pPr>
            <a:r>
              <a:rPr sz="1200" dirty="0"/>
              <a:t>• </a:t>
            </a:r>
            <a:r>
              <a:rPr lang="en-US" sz="1200" dirty="0"/>
              <a:t>Sunil</a:t>
            </a:r>
            <a:r>
              <a:rPr sz="1200" dirty="0"/>
              <a:t>: IDP profile fixes; bank/bene coverage with Sunil (MR !235 × 4 plans) · V3 IDP + Universal Enrollment support still needs a named sustaining owner</a:t>
            </a:r>
          </a:p>
          <a:p>
            <a:pPr>
              <a:lnSpc>
                <a:spcPct val="105000"/>
              </a:lnSpc>
              <a:spcAft>
                <a:spcPts val="300"/>
              </a:spcAft>
              <a:defRPr sz="850">
                <a:solidFill>
                  <a:srgbClr val="1A2332"/>
                </a:solidFill>
              </a:defRPr>
            </a:pPr>
            <a:r>
              <a:rPr sz="1200" dirty="0"/>
              <a:t>• Dinesh: Complete — MR !268 + Bruno !271 on main</a:t>
            </a:r>
          </a:p>
          <a:p>
            <a:pPr>
              <a:lnSpc>
                <a:spcPct val="105000"/>
              </a:lnSpc>
              <a:spcAft>
                <a:spcPts val="300"/>
              </a:spcAft>
              <a:defRPr sz="850">
                <a:solidFill>
                  <a:srgbClr val="1A2332"/>
                </a:solidFill>
              </a:defRPr>
            </a:pPr>
            <a:r>
              <a:rPr sz="1200" dirty="0"/>
              <a:t>• Target: MSC docs + KT published; API GitLab nightly still needs DevOps ownership</a:t>
            </a:r>
          </a:p>
        </p:txBody>
      </p:sp>
      <p:sp>
        <p:nvSpPr>
          <p:cNvPr id="20" name="Rectangle 19"/>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Stage1 recovered after DB refresh. Swapnil currently owns MFA disable + Stage5/CAT regression support for the squad — both need sustaining o</a:t>
            </a:r>
          </a:p>
        </p:txBody>
      </p:sp>
      <p:sp>
        <p:nvSpPr>
          <p:cNvPr id="22" name="TextBox 21"/>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Leadership Decision — API Nightly / Regression</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API GitLab nightly + regression ownership</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Ask</a:t>
            </a:r>
          </a:p>
        </p:txBody>
      </p:sp>
      <p:sp>
        <p:nvSpPr>
          <p:cNvPr id="8" name="Rounded Rectangle 7"/>
          <p:cNvSpPr/>
          <p:nvPr/>
        </p:nvSpPr>
        <p:spPr>
          <a:xfrm>
            <a:off x="612648" y="1197864"/>
            <a:ext cx="11000232" cy="5129784"/>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316736"/>
            <a:ext cx="64008" cy="501091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1481328"/>
            <a:ext cx="10652760" cy="276999"/>
          </a:xfrm>
          <a:prstGeom prst="rect">
            <a:avLst/>
          </a:prstGeom>
          <a:noFill/>
        </p:spPr>
        <p:txBody>
          <a:bodyPr wrap="square">
            <a:spAutoFit/>
          </a:bodyPr>
          <a:lstStyle/>
          <a:p>
            <a:pPr>
              <a:defRPr sz="1200" b="1">
                <a:solidFill>
                  <a:srgbClr val="003241"/>
                </a:solidFill>
              </a:defRPr>
            </a:pPr>
            <a:r>
              <a:t>The gap</a:t>
            </a:r>
          </a:p>
        </p:txBody>
      </p:sp>
      <p:sp>
        <p:nvSpPr>
          <p:cNvPr id="11" name="TextBox 10"/>
          <p:cNvSpPr txBox="1"/>
          <p:nvPr/>
        </p:nvSpPr>
        <p:spPr>
          <a:xfrm>
            <a:off x="749808" y="1810512"/>
            <a:ext cx="10744200" cy="4197096"/>
          </a:xfrm>
          <a:prstGeom prst="rect">
            <a:avLst/>
          </a:prstGeom>
          <a:noFill/>
        </p:spPr>
        <p:txBody>
          <a:bodyPr wrap="square"/>
          <a:lstStyle/>
          <a:p>
            <a:pPr>
              <a:lnSpc>
                <a:spcPct val="150000"/>
              </a:lnSpc>
              <a:spcAft>
                <a:spcPts val="300"/>
              </a:spcAft>
              <a:defRPr sz="1000">
                <a:solidFill>
                  <a:srgbClr val="1A2332"/>
                </a:solidFill>
              </a:defRPr>
            </a:pPr>
            <a:r>
              <a:rPr sz="1200" dirty="0"/>
              <a:t>• API MSC GitLab nightly is still pending DevOps. Batch/job and remote setup are largely created. Once DB files are copied to the server and an owner is named, nightly should run. API regression is not scheduled yet. Performance regression is already working.</a:t>
            </a:r>
          </a:p>
          <a:p>
            <a:pPr>
              <a:lnSpc>
                <a:spcPct val="150000"/>
              </a:lnSpc>
              <a:spcAft>
                <a:spcPts val="300"/>
              </a:spcAft>
              <a:defRPr sz="1000">
                <a:solidFill>
                  <a:srgbClr val="1A2332"/>
                </a:solidFill>
              </a:defRPr>
            </a:pPr>
            <a:r>
              <a:rPr sz="1200" dirty="0"/>
              <a:t>• Proposed owner: DevOps (Dong / pipeline owner) + QA named sustaining contact</a:t>
            </a:r>
          </a:p>
          <a:p>
            <a:pPr>
              <a:lnSpc>
                <a:spcPct val="150000"/>
              </a:lnSpc>
              <a:spcAft>
                <a:spcPts val="300"/>
              </a:spcAft>
              <a:defRPr sz="1000">
                <a:solidFill>
                  <a:srgbClr val="1A2332"/>
                </a:solidFill>
              </a:defRPr>
            </a:pPr>
            <a:r>
              <a:rPr sz="1200" dirty="0"/>
              <a:t>• Track: QA-892 suite packaging · ENVP / GitLab nightly follow-on</a:t>
            </a:r>
          </a:p>
          <a:p>
            <a:pPr>
              <a:lnSpc>
                <a:spcPct val="150000"/>
              </a:lnSpc>
              <a:spcAft>
                <a:spcPts val="300"/>
              </a:spcAft>
              <a:defRPr sz="1000">
                <a:solidFill>
                  <a:srgbClr val="1A2332"/>
                </a:solidFill>
              </a:defRPr>
            </a:pPr>
            <a:r>
              <a:rPr sz="1200" dirty="0"/>
              <a:t>• Perf regression already healthy — no change. API regression waits on nightly ownership.</a:t>
            </a:r>
            <a:endParaRPr lang="en-US" sz="1200" dirty="0"/>
          </a:p>
          <a:p>
            <a:endParaRPr lang="en-US" sz="1200" dirty="0"/>
          </a:p>
          <a:p>
            <a:pPr>
              <a:lnSpc>
                <a:spcPct val="150000"/>
              </a:lnSpc>
            </a:pPr>
            <a:r>
              <a:rPr lang="en-US" sz="1200" b="1" dirty="0"/>
              <a:t>Support ownership</a:t>
            </a:r>
            <a:endParaRPr lang="en-US" sz="1200" dirty="0"/>
          </a:p>
          <a:p>
            <a:pPr marL="285750" lvl="0" indent="-285750">
              <a:lnSpc>
                <a:spcPct val="150000"/>
              </a:lnSpc>
              <a:buFont typeface="Arial" panose="020B0604020202020204" pitchFamily="34" charset="0"/>
              <a:buChar char="•"/>
            </a:pPr>
            <a:r>
              <a:rPr lang="en-US" sz="1200" b="1" dirty="0"/>
              <a:t>Stage1 MFA / DB updates</a:t>
            </a:r>
            <a:r>
              <a:rPr lang="en-US" sz="1200" dirty="0"/>
              <a:t> — Offshore has no update access; after every DB refresh or new account I </a:t>
            </a:r>
            <a:r>
              <a:rPr lang="en-US" sz="1200" b="1" dirty="0"/>
              <a:t>disable MFA</a:t>
            </a:r>
            <a:r>
              <a:rPr lang="en-US" sz="1200" dirty="0"/>
              <a:t>. Need Stage1 update support so this isn’t only me.</a:t>
            </a:r>
          </a:p>
          <a:p>
            <a:pPr marL="285750" lvl="0" indent="-285750">
              <a:lnSpc>
                <a:spcPct val="150000"/>
              </a:lnSpc>
              <a:buFont typeface="Arial" panose="020B0604020202020204" pitchFamily="34" charset="0"/>
              <a:buChar char="•"/>
            </a:pPr>
            <a:r>
              <a:rPr lang="en-US" sz="1200" b="1" dirty="0"/>
              <a:t>Stage5 / CAT regression </a:t>
            </a:r>
            <a:r>
              <a:rPr lang="en-US" sz="1200" dirty="0"/>
              <a:t>— Per Brian, I’ve been running V2 + V3 CAT suites. Need someone to own Stage5 regression ongoing.</a:t>
            </a:r>
          </a:p>
          <a:p>
            <a:pPr marL="285750" lvl="0" indent="-285750">
              <a:lnSpc>
                <a:spcPct val="150000"/>
              </a:lnSpc>
              <a:buFont typeface="Arial" panose="020B0604020202020204" pitchFamily="34" charset="0"/>
              <a:buChar char="•"/>
            </a:pPr>
            <a:r>
              <a:rPr lang="en-US" sz="1200" b="1" dirty="0"/>
              <a:t>V3 IDP + Universal Enrollment </a:t>
            </a:r>
            <a:r>
              <a:rPr lang="en-US" sz="1200" dirty="0"/>
              <a:t>— Need a sustaining owner for suite health / defects (not ad hoc).</a:t>
            </a:r>
          </a:p>
          <a:p>
            <a:pPr marL="285750" lvl="0" indent="-285750">
              <a:lnSpc>
                <a:spcPct val="150000"/>
              </a:lnSpc>
              <a:buFont typeface="Arial" panose="020B0604020202020204" pitchFamily="34" charset="0"/>
              <a:buChar char="•"/>
            </a:pPr>
            <a:r>
              <a:rPr lang="en-US" sz="1200" b="1" dirty="0"/>
              <a:t>API GitLab nightly </a:t>
            </a:r>
            <a:r>
              <a:rPr lang="en-US" sz="1200" dirty="0"/>
              <a:t>— Batch/job/remote mostly ready; need DevOps to copy DB files to the server and own the job.</a:t>
            </a:r>
          </a:p>
          <a:p>
            <a:pPr marL="285750" lvl="0" indent="-285750">
              <a:lnSpc>
                <a:spcPct val="150000"/>
              </a:lnSpc>
              <a:buFont typeface="Arial" panose="020B0604020202020204" pitchFamily="34" charset="0"/>
              <a:buChar char="•"/>
            </a:pPr>
            <a:r>
              <a:rPr lang="en-US" sz="1200" b="1" dirty="0"/>
              <a:t>API nightly regression </a:t>
            </a:r>
            <a:r>
              <a:rPr lang="en-US" sz="1200" dirty="0"/>
              <a:t>— Pending until nightly is owned and scheduled. Perf regression is already healthy — no ask there.</a:t>
            </a:r>
          </a:p>
          <a:p>
            <a:pPr marL="285750" indent="-285750">
              <a:lnSpc>
                <a:spcPct val="150000"/>
              </a:lnSpc>
              <a:buFont typeface="Arial" panose="020B0604020202020204" pitchFamily="34" charset="0"/>
              <a:buChar char="•"/>
            </a:pPr>
            <a:r>
              <a:rPr lang="en-US" sz="1200" b="1" dirty="0"/>
              <a:t>Release support (</a:t>
            </a:r>
            <a:r>
              <a:rPr lang="en-US" sz="1200" dirty="0"/>
              <a:t>Monthly release) — Product pulls me into release testing every cycle (~2–3 days). </a:t>
            </a:r>
          </a:p>
          <a:p>
            <a:pPr marL="742950" lvl="1" indent="-285750">
              <a:lnSpc>
                <a:spcPct val="150000"/>
              </a:lnSpc>
              <a:buFont typeface="Arial" panose="020B0604020202020204" pitchFamily="34" charset="0"/>
              <a:buChar char="•"/>
            </a:pPr>
            <a:r>
              <a:rPr lang="en-US" sz="1200" dirty="0"/>
              <a:t>Next: release ends Oct 14; I’m in through ~Oct 16. Need a designated automation contact for release sign-off so I’m not the default every month.</a:t>
            </a:r>
          </a:p>
          <a:p>
            <a:pPr>
              <a:lnSpc>
                <a:spcPct val="150000"/>
              </a:lnSpc>
              <a:spcAft>
                <a:spcPts val="300"/>
              </a:spcAft>
              <a:defRPr sz="1000">
                <a:solidFill>
                  <a:srgbClr val="1A2332"/>
                </a:solidFill>
              </a:defRPr>
            </a:pPr>
            <a:endParaRPr lang="en-US" sz="1200" dirty="0"/>
          </a:p>
        </p:txBody>
      </p:sp>
      <p:sp>
        <p:nvSpPr>
          <p:cNvPr id="12" name="Rectangle 11"/>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Please confirm DevOps owner on this call — API regression waits on nightly</a:t>
            </a:r>
          </a:p>
        </p:txBody>
      </p:sp>
      <p:sp>
        <p:nvSpPr>
          <p:cNvPr id="14" name="TextBox 13"/>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Support Ownership — Decisions Needed</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Several production-support duties are currently single-threaded on Swapnil. Need named own</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Critical</a:t>
            </a:r>
          </a:p>
        </p:txBody>
      </p:sp>
      <p:sp>
        <p:nvSpPr>
          <p:cNvPr id="8" name="Rounded Rectangle 7"/>
          <p:cNvSpPr/>
          <p:nvPr/>
        </p:nvSpPr>
        <p:spPr>
          <a:xfrm>
            <a:off x="548640" y="1325880"/>
            <a:ext cx="5486400" cy="47548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64008" cy="4754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35608"/>
            <a:ext cx="5166360" cy="320040"/>
          </a:xfrm>
          <a:prstGeom prst="rect">
            <a:avLst/>
          </a:prstGeom>
          <a:noFill/>
        </p:spPr>
        <p:txBody>
          <a:bodyPr wrap="none">
            <a:spAutoFit/>
          </a:bodyPr>
          <a:lstStyle/>
          <a:p>
            <a:pPr>
              <a:defRPr sz="1200" b="1">
                <a:solidFill>
                  <a:srgbClr val="003241"/>
                </a:solidFill>
              </a:defRPr>
            </a:pPr>
            <a:r>
              <a:t>Stage1 · Stage5 · V3</a:t>
            </a:r>
          </a:p>
        </p:txBody>
      </p:sp>
      <p:sp>
        <p:nvSpPr>
          <p:cNvPr id="11" name="TextBox 10"/>
          <p:cNvSpPr txBox="1"/>
          <p:nvPr/>
        </p:nvSpPr>
        <p:spPr>
          <a:xfrm>
            <a:off x="749808" y="1764792"/>
            <a:ext cx="5166360" cy="4251960"/>
          </a:xfrm>
          <a:prstGeom prst="rect">
            <a:avLst/>
          </a:prstGeom>
          <a:noFill/>
        </p:spPr>
        <p:txBody>
          <a:bodyPr wrap="square"/>
          <a:lstStyle/>
          <a:p>
            <a:pPr>
              <a:lnSpc>
                <a:spcPct val="105000"/>
              </a:lnSpc>
              <a:spcAft>
                <a:spcPts val="300"/>
              </a:spcAft>
              <a:defRPr sz="850">
                <a:solidFill>
                  <a:srgbClr val="1A2332"/>
                </a:solidFill>
              </a:defRPr>
            </a:pPr>
            <a:r>
              <a:rPr sz="1200"/>
              <a:t>• Stage1 MFA / DB update support: Arrange Stage1 support (update access or on-call) so MFA disable / account prep is not a single point of failure.</a:t>
            </a:r>
          </a:p>
          <a:p>
            <a:pPr>
              <a:lnSpc>
                <a:spcPct val="105000"/>
              </a:lnSpc>
              <a:spcAft>
                <a:spcPts val="300"/>
              </a:spcAft>
              <a:defRPr sz="850">
                <a:solidFill>
                  <a:srgbClr val="1A2332"/>
                </a:solidFill>
              </a:defRPr>
            </a:pPr>
            <a:r>
              <a:rPr sz="1200"/>
              <a:t>• Stage5 / CAT regression: Name an owner to take over Stage5/CAT regression support for V2 and V3.</a:t>
            </a:r>
          </a:p>
          <a:p>
            <a:pPr>
              <a:lnSpc>
                <a:spcPct val="105000"/>
              </a:lnSpc>
              <a:spcAft>
                <a:spcPts val="300"/>
              </a:spcAft>
              <a:defRPr sz="850">
                <a:solidFill>
                  <a:srgbClr val="1A2332"/>
                </a:solidFill>
              </a:defRPr>
            </a:pPr>
            <a:r>
              <a:rPr sz="1200"/>
              <a:t>• V3 IDP + Universal Enrollment: Name sustaining support for V3 IDP + Universal Enrollment (defects, suite health, plan coverage).</a:t>
            </a:r>
          </a:p>
        </p:txBody>
      </p:sp>
      <p:sp>
        <p:nvSpPr>
          <p:cNvPr id="12" name="Rounded Rectangle 11"/>
          <p:cNvSpPr/>
          <p:nvPr/>
        </p:nvSpPr>
        <p:spPr>
          <a:xfrm>
            <a:off x="6400800" y="1325880"/>
            <a:ext cx="5212080" cy="47548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1325880"/>
            <a:ext cx="64008" cy="475488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API nightly · Perf</a:t>
            </a:r>
          </a:p>
        </p:txBody>
      </p:sp>
      <p:sp>
        <p:nvSpPr>
          <p:cNvPr id="15" name="TextBox 14"/>
          <p:cNvSpPr txBox="1"/>
          <p:nvPr/>
        </p:nvSpPr>
        <p:spPr>
          <a:xfrm>
            <a:off x="6601968" y="1764792"/>
            <a:ext cx="4892040" cy="4251960"/>
          </a:xfrm>
          <a:prstGeom prst="rect">
            <a:avLst/>
          </a:prstGeom>
          <a:noFill/>
        </p:spPr>
        <p:txBody>
          <a:bodyPr wrap="square"/>
          <a:lstStyle/>
          <a:p>
            <a:pPr>
              <a:lnSpc>
                <a:spcPct val="105000"/>
              </a:lnSpc>
              <a:spcAft>
                <a:spcPts val="300"/>
              </a:spcAft>
              <a:defRPr sz="850">
                <a:solidFill>
                  <a:srgbClr val="1A2332"/>
                </a:solidFill>
              </a:defRPr>
            </a:pPr>
            <a:r>
              <a:rPr sz="1200"/>
              <a:t>• API GitLab nightly: Confirm DevOps owner; complete server DB copy; turn on API nightly. API regression pending until then.</a:t>
            </a:r>
          </a:p>
          <a:p>
            <a:pPr>
              <a:lnSpc>
                <a:spcPct val="105000"/>
              </a:lnSpc>
              <a:spcAft>
                <a:spcPts val="300"/>
              </a:spcAft>
              <a:defRPr sz="850">
                <a:solidFill>
                  <a:srgbClr val="1A2332"/>
                </a:solidFill>
              </a:defRPr>
            </a:pPr>
            <a:r>
              <a:rPr sz="1200"/>
              <a:t>• Performance regression: No ask — keep as-is; Enrollment MSC perf is the remaining MSC perf gap.</a:t>
            </a:r>
          </a:p>
        </p:txBody>
      </p:sp>
      <p:sp>
        <p:nvSpPr>
          <p:cNvPr id="16" name="Rectangle 15"/>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Today these duties are single-threaded on Swapnil — need named owners</a:t>
            </a:r>
          </a:p>
        </p:txBody>
      </p:sp>
      <p:sp>
        <p:nvSpPr>
          <p:cNvPr id="18" name="TextBox 17"/>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TCs Added — Jul / Aug / Sep</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Dhanashree Jul–Sep fill (Apr–Jun unchanged)</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Metrics</a:t>
            </a:r>
          </a:p>
        </p:txBody>
      </p:sp>
      <p:sp>
        <p:nvSpPr>
          <p:cNvPr id="8" name="Rounded Rectangle 7"/>
          <p:cNvSpPr/>
          <p:nvPr/>
        </p:nvSpPr>
        <p:spPr>
          <a:xfrm>
            <a:off x="548640" y="1325880"/>
            <a:ext cx="5486400" cy="47548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64008" cy="4754880"/>
          </a:xfrm>
          <a:prstGeom prst="rect">
            <a:avLst/>
          </a:prstGeom>
          <a:solidFill>
            <a:srgbClr val="003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35608"/>
            <a:ext cx="5166360" cy="320040"/>
          </a:xfrm>
          <a:prstGeom prst="rect">
            <a:avLst/>
          </a:prstGeom>
          <a:noFill/>
        </p:spPr>
        <p:txBody>
          <a:bodyPr wrap="none">
            <a:spAutoFit/>
          </a:bodyPr>
          <a:lstStyle/>
          <a:p>
            <a:pPr>
              <a:defRPr sz="1200" b="1">
                <a:solidFill>
                  <a:srgbClr val="003241"/>
                </a:solidFill>
              </a:defRPr>
            </a:pPr>
            <a:r>
              <a:t>V2 / V3 (Apr–Jun unchanged)</a:t>
            </a:r>
          </a:p>
        </p:txBody>
      </p:sp>
      <p:sp>
        <p:nvSpPr>
          <p:cNvPr id="11" name="TextBox 10"/>
          <p:cNvSpPr txBox="1"/>
          <p:nvPr/>
        </p:nvSpPr>
        <p:spPr>
          <a:xfrm>
            <a:off x="749808" y="1764792"/>
            <a:ext cx="5166360" cy="4251960"/>
          </a:xfrm>
          <a:prstGeom prst="rect">
            <a:avLst/>
          </a:prstGeom>
          <a:noFill/>
        </p:spPr>
        <p:txBody>
          <a:bodyPr wrap="square"/>
          <a:lstStyle/>
          <a:p>
            <a:pPr>
              <a:lnSpc>
                <a:spcPct val="105000"/>
              </a:lnSpc>
              <a:spcAft>
                <a:spcPts val="300"/>
              </a:spcAft>
              <a:defRPr sz="900">
                <a:solidFill>
                  <a:srgbClr val="1A2332"/>
                </a:solidFill>
              </a:defRPr>
            </a:pPr>
            <a:r>
              <a:rPr sz="1200"/>
              <a:t>• V2: Jul 33 · Aug 8 · Sep 39  (Sardine · stabilize · CSR Actions)</a:t>
            </a:r>
          </a:p>
          <a:p>
            <a:pPr>
              <a:lnSpc>
                <a:spcPct val="105000"/>
              </a:lnSpc>
              <a:spcAft>
                <a:spcPts val="300"/>
              </a:spcAft>
              <a:defRPr sz="900">
                <a:solidFill>
                  <a:srgbClr val="1A2332"/>
                </a:solidFill>
              </a:defRPr>
            </a:pPr>
            <a:r>
              <a:rPr sz="1200"/>
              <a:t>• V3: Jul 10 · Aug 8 · Sep 16  (WebRereg ×3 · bank/bene ×4)</a:t>
            </a:r>
          </a:p>
          <a:p>
            <a:pPr>
              <a:lnSpc>
                <a:spcPct val="105000"/>
              </a:lnSpc>
              <a:spcAft>
                <a:spcPts val="300"/>
              </a:spcAft>
              <a:defRPr sz="900">
                <a:solidFill>
                  <a:srgbClr val="1A2332"/>
                </a:solidFill>
              </a:defRPr>
            </a:pPr>
            <a:r>
              <a:rPr sz="1200"/>
              <a:t>• Stage5/CAT Sep +49 (remainder after Apr/May stand-up)</a:t>
            </a:r>
          </a:p>
        </p:txBody>
      </p:sp>
      <p:sp>
        <p:nvSpPr>
          <p:cNvPr id="12" name="Rounded Rectangle 11"/>
          <p:cNvSpPr/>
          <p:nvPr/>
        </p:nvSpPr>
        <p:spPr>
          <a:xfrm>
            <a:off x="6400800" y="1325880"/>
            <a:ext cx="5212080" cy="47548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1325880"/>
            <a:ext cx="64008" cy="475488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Why Jul–Aug V2/V3 looked lower</a:t>
            </a:r>
          </a:p>
        </p:txBody>
      </p:sp>
      <p:sp>
        <p:nvSpPr>
          <p:cNvPr id="15" name="TextBox 14"/>
          <p:cNvSpPr txBox="1"/>
          <p:nvPr/>
        </p:nvSpPr>
        <p:spPr>
          <a:xfrm>
            <a:off x="6601968" y="1764792"/>
            <a:ext cx="4892040" cy="4251960"/>
          </a:xfrm>
          <a:prstGeom prst="rect">
            <a:avLst/>
          </a:prstGeom>
          <a:noFill/>
        </p:spPr>
        <p:txBody>
          <a:bodyPr wrap="square"/>
          <a:lstStyle/>
          <a:p>
            <a:pPr>
              <a:lnSpc>
                <a:spcPct val="105000"/>
              </a:lnSpc>
              <a:spcAft>
                <a:spcPts val="300"/>
              </a:spcAft>
              <a:defRPr sz="900">
                <a:solidFill>
                  <a:srgbClr val="1A2332"/>
                </a:solidFill>
              </a:defRPr>
            </a:pPr>
            <a:r>
              <a:rPr sz="1200"/>
              <a:t>• MSC API (×3 plans): Jul 99 · Aug 75 · Sep 6</a:t>
            </a:r>
          </a:p>
          <a:p>
            <a:pPr>
              <a:lnSpc>
                <a:spcPct val="105000"/>
              </a:lnSpc>
              <a:spcAft>
                <a:spcPts val="300"/>
              </a:spcAft>
              <a:defRPr sz="900">
                <a:solidFill>
                  <a:srgbClr val="1A2332"/>
                </a:solidFill>
              </a:defRPr>
            </a:pPr>
            <a:r>
              <a:rPr sz="1200"/>
              <a:t>• Perf JMeter: Jul 12 · Aug 22 · Sep 47</a:t>
            </a:r>
          </a:p>
          <a:p>
            <a:pPr>
              <a:lnSpc>
                <a:spcPct val="105000"/>
              </a:lnSpc>
              <a:spcAft>
                <a:spcPts val="300"/>
              </a:spcAft>
              <a:defRPr sz="900">
                <a:solidFill>
                  <a:srgbClr val="1A2332"/>
                </a:solidFill>
              </a:defRPr>
            </a:pPr>
            <a:r>
              <a:rPr sz="1200"/>
              <a:t>• Capacity on MSC + Perf + Stage5/CAT — Sep V2/V3 uptick intentional</a:t>
            </a:r>
          </a:p>
          <a:p>
            <a:pPr>
              <a:lnSpc>
                <a:spcPct val="105000"/>
              </a:lnSpc>
              <a:spcAft>
                <a:spcPts val="300"/>
              </a:spcAft>
              <a:defRPr sz="900">
                <a:solidFill>
                  <a:srgbClr val="1A2332"/>
                </a:solidFill>
              </a:defRPr>
            </a:pPr>
            <a:r>
              <a:rPr sz="1200"/>
              <a:t>• Shared with Dhanashree for QA AUTO monthly chart fill</a:t>
            </a:r>
          </a:p>
        </p:txBody>
      </p:sp>
      <p:sp>
        <p:nvSpPr>
          <p:cNvPr id="16" name="Rectangle 15"/>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MSC = methods × OKD/NYD/NMD · Removals not counted as negative adds</a:t>
            </a:r>
          </a:p>
        </p:txBody>
      </p:sp>
      <p:sp>
        <p:nvSpPr>
          <p:cNvPr id="18" name="TextBox 17"/>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Unite MSC — Endpoint Coverage</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M2 25/25 · M1 26/26 in-scope</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MSC</a:t>
            </a:r>
          </a:p>
        </p:txBody>
      </p:sp>
      <p:pic>
        <p:nvPicPr>
          <p:cNvPr id="8" name="Picture 7" descr="04-msc-endpoint-coverage.png"/>
          <p:cNvPicPr>
            <a:picLocks noChangeAspect="1"/>
          </p:cNvPicPr>
          <p:nvPr/>
        </p:nvPicPr>
        <p:blipFill>
          <a:blip r:embed="rId2"/>
          <a:stretch>
            <a:fillRect/>
          </a:stretch>
        </p:blipFill>
        <p:spPr>
          <a:xfrm>
            <a:off x="548640" y="1325880"/>
            <a:ext cx="5669280" cy="3167551"/>
          </a:xfrm>
          <a:prstGeom prst="rect">
            <a:avLst/>
          </a:prstGeom>
        </p:spPr>
      </p:pic>
      <p:sp>
        <p:nvSpPr>
          <p:cNvPr id="9" name="Rounded Rectangle 8"/>
          <p:cNvSpPr/>
          <p:nvPr/>
        </p:nvSpPr>
        <p:spPr>
          <a:xfrm>
            <a:off x="6400800" y="1325880"/>
            <a:ext cx="5212080" cy="507492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325880"/>
            <a:ext cx="64008" cy="507492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Key messages</a:t>
            </a:r>
          </a:p>
        </p:txBody>
      </p:sp>
      <p:sp>
        <p:nvSpPr>
          <p:cNvPr id="12" name="TextBox 11"/>
          <p:cNvSpPr txBox="1"/>
          <p:nvPr/>
        </p:nvSpPr>
        <p:spPr>
          <a:xfrm>
            <a:off x="6601968" y="1764792"/>
            <a:ext cx="4892040" cy="4572000"/>
          </a:xfrm>
          <a:prstGeom prst="rect">
            <a:avLst/>
          </a:prstGeom>
          <a:noFill/>
        </p:spPr>
        <p:txBody>
          <a:bodyPr wrap="square"/>
          <a:lstStyle/>
          <a:p>
            <a:pPr>
              <a:lnSpc>
                <a:spcPct val="105000"/>
              </a:lnSpc>
              <a:spcAft>
                <a:spcPts val="300"/>
              </a:spcAft>
              <a:defRPr sz="900">
                <a:solidFill>
                  <a:srgbClr val="1A2332"/>
                </a:solidFill>
              </a:defRPr>
            </a:pPr>
            <a:r>
              <a:t>• All in-scope business endpoints automated — 100% for Mobile 1 and Mobile 2</a:t>
            </a:r>
          </a:p>
          <a:p>
            <a:pPr>
              <a:lnSpc>
                <a:spcPct val="105000"/>
              </a:lnSpc>
              <a:spcAft>
                <a:spcPts val="300"/>
              </a:spcAft>
              <a:defRPr sz="900">
                <a:solidFill>
                  <a:srgbClr val="1A2332"/>
                </a:solidFill>
              </a:defRPr>
            </a:pPr>
            <a:r>
              <a:t>• Destructive endpoints run in smoke/integration — not duplicated in master regression</a:t>
            </a:r>
          </a:p>
          <a:p>
            <a:pPr>
              <a:lnSpc>
                <a:spcPct val="105000"/>
              </a:lnSpc>
              <a:spcAft>
                <a:spcPts val="300"/>
              </a:spcAft>
              <a:defRPr sz="900">
                <a:solidFill>
                  <a:srgbClr val="1A2332"/>
                </a:solidFill>
              </a:defRPr>
            </a:pPr>
            <a:r>
              <a:t>• Stage1: IDP + non-IDP paths validated; QC4 hybrid proof pending env stability</a:t>
            </a:r>
          </a:p>
          <a:p>
            <a:pPr>
              <a:lnSpc>
                <a:spcPct val="105000"/>
              </a:lnSpc>
              <a:spcAft>
                <a:spcPts val="300"/>
              </a:spcAft>
              <a:defRPr sz="900">
                <a:solidFill>
                  <a:srgbClr val="1A2332"/>
                </a:solidFill>
              </a:defRPr>
            </a:pPr>
            <a:r>
              <a:t>• GitLab nightly + ENVP pipeline integration (QA-1405, QA-1544–1549)</a:t>
            </a:r>
          </a:p>
          <a:p>
            <a:pPr>
              <a:lnSpc>
                <a:spcPct val="105000"/>
              </a:lnSpc>
              <a:spcAft>
                <a:spcPts val="300"/>
              </a:spcAft>
              <a:defRPr sz="900">
                <a:solidFill>
                  <a:srgbClr val="1A2332"/>
                </a:solidFill>
              </a:defRPr>
            </a:pPr>
            <a:r>
              <a:t>• Need leadership to name sign-off owners for M1, M2, pipeline, and perf</a:t>
            </a:r>
          </a:p>
        </p:txBody>
      </p:sp>
      <p:sp>
        <p:nvSpPr>
          <p:cNvPr id="13" name="Rectangle 12"/>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Repo: programs/unite-msc/api-test-automation/mappings/</a:t>
            </a:r>
          </a:p>
        </p:txBody>
      </p:sp>
      <p:sp>
        <p:nvSpPr>
          <p:cNvPr id="15" name="TextBox 14"/>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Pipeline &amp; Environments</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Hybrid QC4 + Stage1 model</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Infrastructure</a:t>
            </a:r>
          </a:p>
        </p:txBody>
      </p:sp>
      <p:sp>
        <p:nvSpPr>
          <p:cNvPr id="8" name="Rounded Rectangle 7"/>
          <p:cNvSpPr/>
          <p:nvPr/>
        </p:nvSpPr>
        <p:spPr>
          <a:xfrm>
            <a:off x="548640" y="1371600"/>
            <a:ext cx="5303520" cy="47548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71600"/>
            <a:ext cx="64008" cy="475488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81328"/>
            <a:ext cx="4983480" cy="320040"/>
          </a:xfrm>
          <a:prstGeom prst="rect">
            <a:avLst/>
          </a:prstGeom>
          <a:noFill/>
        </p:spPr>
        <p:txBody>
          <a:bodyPr wrap="none">
            <a:spAutoFit/>
          </a:bodyPr>
          <a:lstStyle/>
          <a:p>
            <a:pPr>
              <a:defRPr sz="1200" b="1">
                <a:solidFill>
                  <a:srgbClr val="003241"/>
                </a:solidFill>
              </a:defRPr>
            </a:pPr>
            <a:r>
              <a:t>Current state</a:t>
            </a:r>
          </a:p>
        </p:txBody>
      </p:sp>
      <p:sp>
        <p:nvSpPr>
          <p:cNvPr id="11" name="TextBox 10"/>
          <p:cNvSpPr txBox="1"/>
          <p:nvPr/>
        </p:nvSpPr>
        <p:spPr>
          <a:xfrm>
            <a:off x="749808" y="1810512"/>
            <a:ext cx="4983480" cy="4251960"/>
          </a:xfrm>
          <a:prstGeom prst="rect">
            <a:avLst/>
          </a:prstGeom>
          <a:noFill/>
        </p:spPr>
        <p:txBody>
          <a:bodyPr wrap="square"/>
          <a:lstStyle/>
          <a:p>
            <a:pPr>
              <a:lnSpc>
                <a:spcPct val="105000"/>
              </a:lnSpc>
              <a:spcAft>
                <a:spcPts val="300"/>
              </a:spcAft>
              <a:defRPr sz="950">
                <a:solidFill>
                  <a:srgbClr val="1A2332"/>
                </a:solidFill>
              </a:defRPr>
            </a:pPr>
            <a:r>
              <a:rPr sz="1200"/>
              <a:t>• Stage1 healthy — MFA disable for offshore still single-threaded on Swapnil after DB refresh / new accounts</a:t>
            </a:r>
          </a:p>
          <a:p>
            <a:pPr>
              <a:lnSpc>
                <a:spcPct val="105000"/>
              </a:lnSpc>
              <a:spcAft>
                <a:spcPts val="300"/>
              </a:spcAft>
              <a:defRPr sz="950">
                <a:solidFill>
                  <a:srgbClr val="1A2332"/>
                </a:solidFill>
              </a:defRPr>
            </a:pPr>
            <a:r>
              <a:rPr sz="1200"/>
              <a:t>• QC4 / Stage1 hybrid proof continuing</a:t>
            </a:r>
          </a:p>
          <a:p>
            <a:pPr>
              <a:lnSpc>
                <a:spcPct val="105000"/>
              </a:lnSpc>
              <a:spcAft>
                <a:spcPts val="300"/>
              </a:spcAft>
              <a:defRPr sz="950">
                <a:solidFill>
                  <a:srgbClr val="1A2332"/>
                </a:solidFill>
              </a:defRPr>
            </a:pPr>
            <a:r>
              <a:rPr sz="1200"/>
              <a:t>• API GitLab nightly PENDING DevOps — batch/job/remote mostly ready; need DB files copied to server + named owner. API regression not nightly yet. Perf regression already running healthy.</a:t>
            </a:r>
          </a:p>
          <a:p>
            <a:pPr>
              <a:lnSpc>
                <a:spcPct val="105000"/>
              </a:lnSpc>
              <a:spcAft>
                <a:spcPts val="300"/>
              </a:spcAft>
              <a:defRPr sz="950">
                <a:solidFill>
                  <a:srgbClr val="1A2332"/>
                </a:solidFill>
              </a:defRPr>
            </a:pPr>
            <a:r>
              <a:rPr sz="1200"/>
              <a:t>• QC4 has no non-IDP plants in lower env today — need product owner to confirm test plans</a:t>
            </a:r>
          </a:p>
          <a:p>
            <a:pPr>
              <a:lnSpc>
                <a:spcPct val="105000"/>
              </a:lnSpc>
              <a:spcAft>
                <a:spcPts val="300"/>
              </a:spcAft>
              <a:defRPr sz="950">
                <a:solidFill>
                  <a:srgbClr val="1A2332"/>
                </a:solidFill>
              </a:defRPr>
            </a:pPr>
            <a:r>
              <a:rPr sz="1200"/>
              <a:t>• Pipeline is not 'done' until QC4 proof passes — design is ready</a:t>
            </a:r>
          </a:p>
        </p:txBody>
      </p:sp>
      <p:sp>
        <p:nvSpPr>
          <p:cNvPr id="12" name="Rounded Rectangle 11"/>
          <p:cNvSpPr/>
          <p:nvPr/>
        </p:nvSpPr>
        <p:spPr>
          <a:xfrm>
            <a:off x="6126480" y="1371600"/>
            <a:ext cx="5394960" cy="47548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1371600"/>
            <a:ext cx="64008" cy="4754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1481328"/>
            <a:ext cx="5074920" cy="320040"/>
          </a:xfrm>
          <a:prstGeom prst="rect">
            <a:avLst/>
          </a:prstGeom>
          <a:noFill/>
        </p:spPr>
        <p:txBody>
          <a:bodyPr wrap="none">
            <a:spAutoFit/>
          </a:bodyPr>
          <a:lstStyle/>
          <a:p>
            <a:pPr>
              <a:defRPr sz="1200" b="1">
                <a:solidFill>
                  <a:srgbClr val="003241"/>
                </a:solidFill>
              </a:defRPr>
            </a:pPr>
            <a:r>
              <a:t>What we need</a:t>
            </a:r>
          </a:p>
        </p:txBody>
      </p:sp>
      <p:sp>
        <p:nvSpPr>
          <p:cNvPr id="15" name="TextBox 14"/>
          <p:cNvSpPr txBox="1"/>
          <p:nvPr/>
        </p:nvSpPr>
        <p:spPr>
          <a:xfrm>
            <a:off x="6327648" y="1810512"/>
            <a:ext cx="5074920" cy="4251960"/>
          </a:xfrm>
          <a:prstGeom prst="rect">
            <a:avLst/>
          </a:prstGeom>
          <a:noFill/>
        </p:spPr>
        <p:txBody>
          <a:bodyPr wrap="square"/>
          <a:lstStyle/>
          <a:p>
            <a:pPr>
              <a:lnSpc>
                <a:spcPct val="105000"/>
              </a:lnSpc>
              <a:spcAft>
                <a:spcPts val="300"/>
              </a:spcAft>
              <a:defRPr sz="950">
                <a:solidFill>
                  <a:srgbClr val="1A2332"/>
                </a:solidFill>
              </a:defRPr>
            </a:pPr>
            <a:r>
              <a:rPr sz="1200"/>
              <a:t>• DevOps owner: copy DB files to server · own API GitLab nightly job (setup mostly ready)</a:t>
            </a:r>
          </a:p>
          <a:p>
            <a:pPr>
              <a:lnSpc>
                <a:spcPct val="105000"/>
              </a:lnSpc>
              <a:spcAft>
                <a:spcPts val="300"/>
              </a:spcAft>
              <a:defRPr sz="950">
                <a:solidFill>
                  <a:srgbClr val="1A2332"/>
                </a:solidFill>
              </a:defRPr>
            </a:pPr>
            <a:r>
              <a:rPr sz="1200"/>
              <a:t>• Stage1 MFA / DB update support for offshore (today: Swapnil only)</a:t>
            </a:r>
          </a:p>
          <a:p>
            <a:pPr>
              <a:lnSpc>
                <a:spcPct val="105000"/>
              </a:lnSpc>
              <a:spcAft>
                <a:spcPts val="300"/>
              </a:spcAft>
              <a:defRPr sz="950">
                <a:solidFill>
                  <a:srgbClr val="1A2332"/>
                </a:solidFill>
              </a:defRPr>
            </a:pPr>
            <a:r>
              <a:rPr sz="1200"/>
              <a:t>• Stage5/CAT + V3 IDP/UE sustaining owners so support is not single-threaded</a:t>
            </a:r>
          </a:p>
        </p:txBody>
      </p:sp>
      <p:sp>
        <p:nvSpPr>
          <p:cNvPr id="16" name="Rectangle 15"/>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Aligned with Jul 2025 hybrid decision — Stage1 primary until QC4 stabilizes</a:t>
            </a:r>
          </a:p>
        </p:txBody>
      </p:sp>
      <p:sp>
        <p:nvSpPr>
          <p:cNvPr id="18" name="TextBox 17"/>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V2 &amp; V3 UI Automation</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Sprint 26.17 — V2 Stage5/CAT + CSR Actions; V3 IDP/UE + bank/bene; Stage1 MFA support gap</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UI</a:t>
            </a:r>
          </a:p>
        </p:txBody>
      </p:sp>
      <p:sp>
        <p:nvSpPr>
          <p:cNvPr id="8" name="Rounded Rectangle 7"/>
          <p:cNvSpPr/>
          <p:nvPr/>
        </p:nvSpPr>
        <p:spPr>
          <a:xfrm>
            <a:off x="548640" y="1371600"/>
            <a:ext cx="5394960" cy="210312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71600"/>
            <a:ext cx="64008" cy="21031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81328"/>
            <a:ext cx="5074920" cy="320040"/>
          </a:xfrm>
          <a:prstGeom prst="rect">
            <a:avLst/>
          </a:prstGeom>
          <a:noFill/>
        </p:spPr>
        <p:txBody>
          <a:bodyPr wrap="none">
            <a:spAutoFit/>
          </a:bodyPr>
          <a:lstStyle/>
          <a:p>
            <a:pPr>
              <a:defRPr sz="1200" b="1">
                <a:solidFill>
                  <a:srgbClr val="003241"/>
                </a:solidFill>
              </a:defRPr>
            </a:pPr>
            <a:r>
              <a:t>V3 (GitLab) — maintenance + stabilization</a:t>
            </a:r>
          </a:p>
        </p:txBody>
      </p:sp>
      <p:sp>
        <p:nvSpPr>
          <p:cNvPr id="11" name="TextBox 10"/>
          <p:cNvSpPr txBox="1"/>
          <p:nvPr/>
        </p:nvSpPr>
        <p:spPr>
          <a:xfrm>
            <a:off x="749808" y="1810512"/>
            <a:ext cx="5074920" cy="1600200"/>
          </a:xfrm>
          <a:prstGeom prst="rect">
            <a:avLst/>
          </a:prstGeom>
          <a:noFill/>
        </p:spPr>
        <p:txBody>
          <a:bodyPr wrap="square"/>
          <a:lstStyle/>
          <a:p>
            <a:pPr>
              <a:lnSpc>
                <a:spcPct val="105000"/>
              </a:lnSpc>
              <a:spcAft>
                <a:spcPts val="300"/>
              </a:spcAft>
              <a:defRPr sz="900">
                <a:solidFill>
                  <a:srgbClr val="1A2332"/>
                </a:solidFill>
              </a:defRPr>
            </a:pPr>
            <a:r>
              <a:t>• Sep: Member bank + beneficiary × 4 plans (+16 TCs) — Sunil MR !235</a:t>
            </a:r>
          </a:p>
          <a:p>
            <a:pPr>
              <a:lnSpc>
                <a:spcPct val="105000"/>
              </a:lnSpc>
              <a:spcAft>
                <a:spcPts val="300"/>
              </a:spcAft>
              <a:defRPr sz="900">
                <a:solidFill>
                  <a:srgbClr val="1A2332"/>
                </a:solidFill>
              </a:defRPr>
            </a:pPr>
            <a:r>
              <a:t>• Jul: WebRereg × 3 plans (+6) plus other UE/reg adds</a:t>
            </a:r>
          </a:p>
          <a:p>
            <a:pPr>
              <a:lnSpc>
                <a:spcPct val="105000"/>
              </a:lnSpc>
              <a:spcAft>
                <a:spcPts val="300"/>
              </a:spcAft>
              <a:defRPr sz="900">
                <a:solidFill>
                  <a:srgbClr val="1A2332"/>
                </a:solidFill>
              </a:defRPr>
            </a:pPr>
            <a:r>
              <a:t>• V3 IDP + Universal Enrollment still need named sustaining support</a:t>
            </a:r>
          </a:p>
        </p:txBody>
      </p:sp>
      <p:sp>
        <p:nvSpPr>
          <p:cNvPr id="12" name="Rounded Rectangle 11"/>
          <p:cNvSpPr/>
          <p:nvPr/>
        </p:nvSpPr>
        <p:spPr>
          <a:xfrm>
            <a:off x="6126480" y="1371600"/>
            <a:ext cx="5394960" cy="210312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1371600"/>
            <a:ext cx="64008" cy="2103120"/>
          </a:xfrm>
          <a:prstGeom prst="rect">
            <a:avLst/>
          </a:prstGeom>
          <a:solidFill>
            <a:srgbClr val="003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1481328"/>
            <a:ext cx="5074920" cy="320040"/>
          </a:xfrm>
          <a:prstGeom prst="rect">
            <a:avLst/>
          </a:prstGeom>
          <a:noFill/>
        </p:spPr>
        <p:txBody>
          <a:bodyPr wrap="none">
            <a:spAutoFit/>
          </a:bodyPr>
          <a:lstStyle/>
          <a:p>
            <a:pPr>
              <a:defRPr sz="1200" b="1">
                <a:solidFill>
                  <a:srgbClr val="003241"/>
                </a:solidFill>
              </a:defRPr>
            </a:pPr>
            <a:r>
              <a:t>V2 (Jenkins) — sunset discussion needed</a:t>
            </a:r>
          </a:p>
        </p:txBody>
      </p:sp>
      <p:sp>
        <p:nvSpPr>
          <p:cNvPr id="15" name="TextBox 14"/>
          <p:cNvSpPr txBox="1"/>
          <p:nvPr/>
        </p:nvSpPr>
        <p:spPr>
          <a:xfrm>
            <a:off x="6327648" y="1810512"/>
            <a:ext cx="5074920" cy="1600200"/>
          </a:xfrm>
          <a:prstGeom prst="rect">
            <a:avLst/>
          </a:prstGeom>
          <a:noFill/>
        </p:spPr>
        <p:txBody>
          <a:bodyPr wrap="square"/>
          <a:lstStyle/>
          <a:p>
            <a:pPr>
              <a:lnSpc>
                <a:spcPct val="105000"/>
              </a:lnSpc>
              <a:spcAft>
                <a:spcPts val="300"/>
              </a:spcAft>
              <a:defRPr sz="900">
                <a:solidFill>
                  <a:srgbClr val="1A2332"/>
                </a:solidFill>
              </a:defRPr>
            </a:pPr>
            <a:r>
              <a:t>• Sep: CSR Actions suite new on Stage1 nightly (+39 methods)</a:t>
            </a:r>
          </a:p>
          <a:p>
            <a:pPr>
              <a:lnSpc>
                <a:spcPct val="105000"/>
              </a:lnSpc>
              <a:spcAft>
                <a:spcPts val="300"/>
              </a:spcAft>
              <a:defRPr sz="900">
                <a:solidFill>
                  <a:srgbClr val="1A2332"/>
                </a:solidFill>
              </a:defRPr>
            </a:pPr>
            <a:r>
              <a:t>• Stage5/CAT regression suites created and running (Brian request) — Swapnil supporting today</a:t>
            </a:r>
          </a:p>
          <a:p>
            <a:pPr>
              <a:lnSpc>
                <a:spcPct val="105000"/>
              </a:lnSpc>
              <a:spcAft>
                <a:spcPts val="300"/>
              </a:spcAft>
              <a:defRPr sz="900">
                <a:solidFill>
                  <a:srgbClr val="1A2332"/>
                </a:solidFill>
              </a:defRPr>
            </a:pPr>
            <a:r>
              <a:t>• Jul–Sep V2 TCs added for leadership chart: 33 / 8 / 39</a:t>
            </a:r>
          </a:p>
          <a:p>
            <a:pPr>
              <a:lnSpc>
                <a:spcPct val="105000"/>
              </a:lnSpc>
              <a:spcAft>
                <a:spcPts val="300"/>
              </a:spcAft>
              <a:defRPr sz="900">
                <a:solidFill>
                  <a:srgbClr val="1A2332"/>
                </a:solidFill>
              </a:defRPr>
            </a:pPr>
            <a:r>
              <a:t>• Confirm: member flows permanently on V3 for migrated Direct plans — retire V2 member IDP suites?</a:t>
            </a:r>
          </a:p>
        </p:txBody>
      </p:sp>
      <p:sp>
        <p:nvSpPr>
          <p:cNvPr id="16" name="Rounded Rectangle 15"/>
          <p:cNvSpPr/>
          <p:nvPr/>
        </p:nvSpPr>
        <p:spPr>
          <a:xfrm>
            <a:off x="548640" y="3703320"/>
            <a:ext cx="11064240" cy="228600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3703320"/>
            <a:ext cx="64008" cy="2286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813048"/>
            <a:ext cx="10744200" cy="320040"/>
          </a:xfrm>
          <a:prstGeom prst="rect">
            <a:avLst/>
          </a:prstGeom>
          <a:noFill/>
        </p:spPr>
        <p:txBody>
          <a:bodyPr wrap="none">
            <a:spAutoFit/>
          </a:bodyPr>
          <a:lstStyle/>
          <a:p>
            <a:pPr>
              <a:defRPr sz="1200" b="1">
                <a:solidFill>
                  <a:srgbClr val="003241"/>
                </a:solidFill>
              </a:defRPr>
            </a:pPr>
            <a:r>
              <a:t>Regression bugs — Sprints 26.15–26.16</a:t>
            </a:r>
          </a:p>
        </p:txBody>
      </p:sp>
      <p:sp>
        <p:nvSpPr>
          <p:cNvPr id="19" name="TextBox 18"/>
          <p:cNvSpPr txBox="1"/>
          <p:nvPr/>
        </p:nvSpPr>
        <p:spPr>
          <a:xfrm>
            <a:off x="749808" y="4142232"/>
            <a:ext cx="10744200" cy="1783080"/>
          </a:xfrm>
          <a:prstGeom prst="rect">
            <a:avLst/>
          </a:prstGeom>
          <a:noFill/>
        </p:spPr>
        <p:txBody>
          <a:bodyPr wrap="square"/>
          <a:lstStyle/>
          <a:p>
            <a:pPr>
              <a:lnSpc>
                <a:spcPct val="105000"/>
              </a:lnSpc>
              <a:spcAft>
                <a:spcPts val="300"/>
              </a:spcAft>
              <a:defRPr sz="850">
                <a:solidFill>
                  <a:srgbClr val="1A2332"/>
                </a:solidFill>
              </a:defRPr>
            </a:pPr>
            <a:r>
              <a:t>• QA-2014: V3 Universal Enrollment — unable to create account (26.15)</a:t>
            </a:r>
          </a:p>
          <a:p>
            <a:pPr>
              <a:lnSpc>
                <a:spcPct val="105000"/>
              </a:lnSpc>
              <a:spcAft>
                <a:spcPts val="300"/>
              </a:spcAft>
              <a:defRPr sz="850">
                <a:solidFill>
                  <a:srgbClr val="1A2332"/>
                </a:solidFill>
              </a:defRPr>
            </a:pPr>
            <a:r>
              <a:t>• QA-2013: V3 CSR Member Personal Information validation (26.15)</a:t>
            </a:r>
          </a:p>
          <a:p>
            <a:pPr>
              <a:lnSpc>
                <a:spcPct val="105000"/>
              </a:lnSpc>
              <a:spcAft>
                <a:spcPts val="300"/>
              </a:spcAft>
              <a:defRPr sz="850">
                <a:solidFill>
                  <a:srgbClr val="1A2332"/>
                </a:solidFill>
              </a:defRPr>
            </a:pPr>
            <a:r>
              <a:t>• QA-1990: V3 withdrawal voucher invalid (26.15)</a:t>
            </a:r>
          </a:p>
          <a:p>
            <a:pPr>
              <a:lnSpc>
                <a:spcPct val="105000"/>
              </a:lnSpc>
              <a:spcAft>
                <a:spcPts val="300"/>
              </a:spcAft>
              <a:defRPr sz="850">
                <a:solidFill>
                  <a:srgbClr val="1A2332"/>
                </a:solidFill>
              </a:defRPr>
            </a:pPr>
            <a:r>
              <a:t>• QA-1989: V2 CSR withdrawal voucher invalid (26.15)</a:t>
            </a:r>
          </a:p>
          <a:p>
            <a:pPr>
              <a:lnSpc>
                <a:spcPct val="105000"/>
              </a:lnSpc>
              <a:spcAft>
                <a:spcPts val="300"/>
              </a:spcAft>
              <a:defRPr sz="850">
                <a:solidFill>
                  <a:srgbClr val="1A2332"/>
                </a:solidFill>
              </a:defRPr>
            </a:pPr>
            <a:r>
              <a:t>• QA-2199: SEQ_FIN_TXN_ID null — contrib/withdrawal/investment stabilization (26.16)</a:t>
            </a:r>
          </a:p>
        </p:txBody>
      </p:sp>
      <p:sp>
        <p:nvSpPr>
          <p:cNvPr id="20" name="Rectangle 19"/>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Inventory cleanup ≠ zero work — Aug V2/V3 kept non-zero for stabilize/flaky MRs while MSC/Perf/CAT took capacity</a:t>
            </a:r>
          </a:p>
        </p:txBody>
      </p:sp>
      <p:sp>
        <p:nvSpPr>
          <p:cNvPr id="22" name="TextBox 21"/>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V2 Regression — Gap Analysis</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By Venkatesh Mallela</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V2</a:t>
            </a:r>
          </a:p>
        </p:txBody>
      </p:sp>
      <p:sp>
        <p:nvSpPr>
          <p:cNvPr id="8" name="Rounded Rectangle 7"/>
          <p:cNvSpPr/>
          <p:nvPr/>
        </p:nvSpPr>
        <p:spPr>
          <a:xfrm>
            <a:off x="548640" y="1371600"/>
            <a:ext cx="5486400" cy="438912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71600"/>
            <a:ext cx="64008" cy="43891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81328"/>
            <a:ext cx="5166360" cy="320040"/>
          </a:xfrm>
          <a:prstGeom prst="rect">
            <a:avLst/>
          </a:prstGeom>
          <a:noFill/>
        </p:spPr>
        <p:txBody>
          <a:bodyPr wrap="none">
            <a:spAutoFit/>
          </a:bodyPr>
          <a:lstStyle/>
          <a:p>
            <a:pPr>
              <a:defRPr sz="1200" b="1">
                <a:solidFill>
                  <a:srgbClr val="003241"/>
                </a:solidFill>
              </a:defRPr>
            </a:pPr>
            <a:r>
              <a:t>P0 — Turn on existing automation (@dailyrun)</a:t>
            </a:r>
          </a:p>
        </p:txBody>
      </p:sp>
      <p:sp>
        <p:nvSpPr>
          <p:cNvPr id="11" name="TextBox 10"/>
          <p:cNvSpPr txBox="1"/>
          <p:nvPr/>
        </p:nvSpPr>
        <p:spPr>
          <a:xfrm>
            <a:off x="749808" y="1810512"/>
            <a:ext cx="5166360" cy="3886200"/>
          </a:xfrm>
          <a:prstGeom prst="rect">
            <a:avLst/>
          </a:prstGeom>
          <a:noFill/>
        </p:spPr>
        <p:txBody>
          <a:bodyPr wrap="square"/>
          <a:lstStyle/>
          <a:p>
            <a:pPr>
              <a:lnSpc>
                <a:spcPct val="105000"/>
              </a:lnSpc>
              <a:spcAft>
                <a:spcPts val="300"/>
              </a:spcAft>
              <a:defRPr sz="800">
                <a:solidFill>
                  <a:srgbClr val="1A2332"/>
                </a:solidFill>
              </a:defRPr>
            </a:pPr>
            <a:r>
              <a:rPr sz="1200"/>
              <a:t>• CSR Actions on Stage1 nightly — landed Sep (+39 methods)</a:t>
            </a:r>
          </a:p>
          <a:p>
            <a:pPr>
              <a:lnSpc>
                <a:spcPct val="105000"/>
              </a:lnSpc>
              <a:spcAft>
                <a:spcPts val="300"/>
              </a:spcAft>
              <a:defRPr sz="800">
                <a:solidFill>
                  <a:srgbClr val="1A2332"/>
                </a:solidFill>
              </a:defRPr>
            </a:pPr>
            <a:r>
              <a:rPr sz="1200"/>
              <a:t>• Stage5/CAT V2 smoke suites running — need sustaining owner</a:t>
            </a:r>
          </a:p>
          <a:p>
            <a:pPr>
              <a:lnSpc>
                <a:spcPct val="105000"/>
              </a:lnSpc>
              <a:spcAft>
                <a:spcPts val="300"/>
              </a:spcAft>
              <a:defRPr sz="800">
                <a:solidFill>
                  <a:srgbClr val="1A2332"/>
                </a:solidFill>
              </a:defRPr>
            </a:pPr>
            <a:r>
              <a:rPr sz="1200"/>
              <a:t>• Member-related cases — migrate to V3 (V2 member IDP obsolete for migrated Direct plans)</a:t>
            </a:r>
          </a:p>
          <a:p>
            <a:pPr>
              <a:lnSpc>
                <a:spcPct val="105000"/>
              </a:lnSpc>
              <a:spcAft>
                <a:spcPts val="300"/>
              </a:spcAft>
              <a:defRPr sz="800">
                <a:solidFill>
                  <a:srgbClr val="1A2332"/>
                </a:solidFill>
              </a:defRPr>
            </a:pPr>
            <a:r>
              <a:rPr sz="1200"/>
              <a:t>• Share adjustment / CSR daily wiring continue</a:t>
            </a:r>
          </a:p>
          <a:p>
            <a:pPr>
              <a:lnSpc>
                <a:spcPct val="105000"/>
              </a:lnSpc>
              <a:spcAft>
                <a:spcPts val="300"/>
              </a:spcAft>
              <a:defRPr sz="800">
                <a:solidFill>
                  <a:srgbClr val="1A2332"/>
                </a:solidFill>
              </a:defRPr>
            </a:pPr>
            <a:r>
              <a:rPr sz="1200"/>
              <a:t>• Enrollment / login / registration retire-or-migrate largely done</a:t>
            </a:r>
          </a:p>
        </p:txBody>
      </p:sp>
      <p:sp>
        <p:nvSpPr>
          <p:cNvPr id="12" name="Rounded Rectangle 11"/>
          <p:cNvSpPr/>
          <p:nvPr/>
        </p:nvSpPr>
        <p:spPr>
          <a:xfrm>
            <a:off x="6217920" y="1371600"/>
            <a:ext cx="5394960" cy="438912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371600"/>
            <a:ext cx="64008" cy="4389120"/>
          </a:xfrm>
          <a:prstGeom prst="rect">
            <a:avLst/>
          </a:prstGeom>
          <a:solidFill>
            <a:srgbClr val="003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481328"/>
            <a:ext cx="5074920" cy="320040"/>
          </a:xfrm>
          <a:prstGeom prst="rect">
            <a:avLst/>
          </a:prstGeom>
          <a:noFill/>
        </p:spPr>
        <p:txBody>
          <a:bodyPr wrap="none">
            <a:spAutoFit/>
          </a:bodyPr>
          <a:lstStyle/>
          <a:p>
            <a:pPr>
              <a:defRPr sz="1200" b="1">
                <a:solidFill>
                  <a:srgbClr val="003241"/>
                </a:solidFill>
              </a:defRPr>
            </a:pPr>
            <a:r>
              <a:t>P1 — Extend coverage · P2 — Build new</a:t>
            </a:r>
          </a:p>
        </p:txBody>
      </p:sp>
      <p:sp>
        <p:nvSpPr>
          <p:cNvPr id="15" name="TextBox 14"/>
          <p:cNvSpPr txBox="1"/>
          <p:nvPr/>
        </p:nvSpPr>
        <p:spPr>
          <a:xfrm>
            <a:off x="6419088" y="1810512"/>
            <a:ext cx="5074920" cy="3886200"/>
          </a:xfrm>
          <a:prstGeom prst="rect">
            <a:avLst/>
          </a:prstGeom>
          <a:noFill/>
        </p:spPr>
        <p:txBody>
          <a:bodyPr wrap="square"/>
          <a:lstStyle/>
          <a:p>
            <a:pPr>
              <a:lnSpc>
                <a:spcPct val="105000"/>
              </a:lnSpc>
              <a:spcAft>
                <a:spcPts val="300"/>
              </a:spcAft>
              <a:defRPr sz="800">
                <a:solidFill>
                  <a:srgbClr val="1A2332"/>
                </a:solidFill>
              </a:defRPr>
            </a:pPr>
            <a:r>
              <a:rPr sz="1200"/>
              <a:t>• Contribution / withdrawal / investment stabilization after SEQ_FIN_TXN_ID issues</a:t>
            </a:r>
          </a:p>
          <a:p>
            <a:pPr>
              <a:lnSpc>
                <a:spcPct val="105000"/>
              </a:lnSpc>
              <a:spcAft>
                <a:spcPts val="300"/>
              </a:spcAft>
              <a:defRPr sz="800">
                <a:solidFill>
                  <a:srgbClr val="1A2332"/>
                </a:solidFill>
              </a:defRPr>
            </a:pPr>
            <a:r>
              <a:rPr sz="1200"/>
              <a:t>• Stage5/CAT expansion and green-suite triage</a:t>
            </a:r>
          </a:p>
          <a:p>
            <a:pPr>
              <a:lnSpc>
                <a:spcPct val="105000"/>
              </a:lnSpc>
              <a:spcAft>
                <a:spcPts val="300"/>
              </a:spcAft>
              <a:defRPr sz="800">
                <a:solidFill>
                  <a:srgbClr val="1A2332"/>
                </a:solidFill>
              </a:defRPr>
            </a:pPr>
            <a:r>
              <a:rPr sz="1200"/>
              <a:t>• —</a:t>
            </a:r>
          </a:p>
          <a:p>
            <a:pPr>
              <a:lnSpc>
                <a:spcPct val="105000"/>
              </a:lnSpc>
              <a:spcAft>
                <a:spcPts val="300"/>
              </a:spcAft>
              <a:defRPr sz="800">
                <a:solidFill>
                  <a:srgbClr val="1A2332"/>
                </a:solidFill>
              </a:defRPr>
            </a:pPr>
            <a:r>
              <a:rPr sz="1200"/>
              <a:t>• P2: YTD bucket, financial history, failed txns, bank history…</a:t>
            </a:r>
          </a:p>
        </p:txBody>
      </p:sp>
      <p:sp>
        <p:nvSpPr>
          <p:cNvPr id="16" name="Rectangle 15"/>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CSR Actions added to Stage1 nightly (+39 methods Sep). Stage5/CAT smoke in active regression. Member→V3 migration contin…</a:t>
            </a:r>
          </a:p>
        </p:txBody>
      </p:sp>
      <p:sp>
        <p:nvSpPr>
          <p:cNvPr id="18" name="TextBox 17"/>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Performance Testing</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Perf regression healthy · M1/M2 done · Enrollment MSC perf remaining</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Perf</a:t>
            </a:r>
          </a:p>
        </p:txBody>
      </p:sp>
      <p:sp>
        <p:nvSpPr>
          <p:cNvPr id="8" name="Rounded Rectangle 7"/>
          <p:cNvSpPr/>
          <p:nvPr/>
        </p:nvSpPr>
        <p:spPr>
          <a:xfrm>
            <a:off x="548640" y="1417320"/>
            <a:ext cx="338328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417320"/>
            <a:ext cx="3383280" cy="640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581912"/>
            <a:ext cx="3154680" cy="320040"/>
          </a:xfrm>
          <a:prstGeom prst="rect">
            <a:avLst/>
          </a:prstGeom>
          <a:noFill/>
        </p:spPr>
        <p:txBody>
          <a:bodyPr wrap="none">
            <a:spAutoFit/>
          </a:bodyPr>
          <a:lstStyle/>
          <a:p>
            <a:pPr>
              <a:defRPr sz="1000">
                <a:solidFill>
                  <a:srgbClr val="64748B"/>
                </a:solidFill>
              </a:defRPr>
            </a:pPr>
            <a:r>
              <a:t>Sprint 26.15–26.16</a:t>
            </a:r>
          </a:p>
        </p:txBody>
      </p:sp>
      <p:sp>
        <p:nvSpPr>
          <p:cNvPr id="11" name="TextBox 10"/>
          <p:cNvSpPr txBox="1"/>
          <p:nvPr/>
        </p:nvSpPr>
        <p:spPr>
          <a:xfrm>
            <a:off x="685800" y="1874520"/>
            <a:ext cx="2220993" cy="307777"/>
          </a:xfrm>
          <a:prstGeom prst="rect">
            <a:avLst/>
          </a:prstGeom>
          <a:noFill/>
        </p:spPr>
        <p:txBody>
          <a:bodyPr wrap="none">
            <a:spAutoFit/>
          </a:bodyPr>
          <a:lstStyle/>
          <a:p>
            <a:pPr>
              <a:defRPr sz="2600" b="1">
                <a:solidFill>
                  <a:srgbClr val="1A2332"/>
                </a:solidFill>
              </a:defRPr>
            </a:pPr>
            <a:r>
              <a:rPr sz="1400" dirty="0"/>
              <a:t>Mobile 2 MSC performance</a:t>
            </a:r>
          </a:p>
        </p:txBody>
      </p:sp>
      <p:sp>
        <p:nvSpPr>
          <p:cNvPr id="12" name="TextBox 11"/>
          <p:cNvSpPr txBox="1"/>
          <p:nvPr/>
        </p:nvSpPr>
        <p:spPr>
          <a:xfrm>
            <a:off x="685800" y="2304288"/>
            <a:ext cx="3154680" cy="274320"/>
          </a:xfrm>
          <a:prstGeom prst="rect">
            <a:avLst/>
          </a:prstGeom>
          <a:noFill/>
        </p:spPr>
        <p:txBody>
          <a:bodyPr wrap="none">
            <a:spAutoFit/>
          </a:bodyPr>
          <a:lstStyle/>
          <a:p>
            <a:pPr>
              <a:defRPr sz="800">
                <a:solidFill>
                  <a:srgbClr val="64748B"/>
                </a:solidFill>
              </a:defRPr>
            </a:pPr>
            <a:r>
              <a:t>Prior MSC M2 perf</a:t>
            </a:r>
          </a:p>
        </p:txBody>
      </p:sp>
      <p:sp>
        <p:nvSpPr>
          <p:cNvPr id="13" name="Rounded Rectangle 12"/>
          <p:cNvSpPr/>
          <p:nvPr/>
        </p:nvSpPr>
        <p:spPr>
          <a:xfrm>
            <a:off x="4206240" y="1417320"/>
            <a:ext cx="338328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06240" y="1417320"/>
            <a:ext cx="3383280" cy="640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43400" y="1581912"/>
            <a:ext cx="3154680" cy="320040"/>
          </a:xfrm>
          <a:prstGeom prst="rect">
            <a:avLst/>
          </a:prstGeom>
          <a:noFill/>
        </p:spPr>
        <p:txBody>
          <a:bodyPr wrap="none">
            <a:spAutoFit/>
          </a:bodyPr>
          <a:lstStyle/>
          <a:p>
            <a:pPr>
              <a:defRPr sz="1000">
                <a:solidFill>
                  <a:srgbClr val="64748B"/>
                </a:solidFill>
              </a:defRPr>
            </a:pPr>
            <a:r>
              <a:t>Sprint 26.16</a:t>
            </a:r>
          </a:p>
        </p:txBody>
      </p:sp>
      <p:sp>
        <p:nvSpPr>
          <p:cNvPr id="16" name="TextBox 15"/>
          <p:cNvSpPr txBox="1"/>
          <p:nvPr/>
        </p:nvSpPr>
        <p:spPr>
          <a:xfrm>
            <a:off x="4343400" y="1874520"/>
            <a:ext cx="3324756" cy="307777"/>
          </a:xfrm>
          <a:prstGeom prst="rect">
            <a:avLst/>
          </a:prstGeom>
          <a:noFill/>
        </p:spPr>
        <p:txBody>
          <a:bodyPr wrap="none">
            <a:spAutoFit/>
          </a:bodyPr>
          <a:lstStyle/>
          <a:p>
            <a:pPr>
              <a:defRPr sz="2600" b="1">
                <a:solidFill>
                  <a:srgbClr val="1A2332"/>
                </a:solidFill>
              </a:defRPr>
            </a:pPr>
            <a:r>
              <a:rPr sz="1400" dirty="0"/>
              <a:t>Mobile 1 auth / owner-profile / device-p…</a:t>
            </a:r>
          </a:p>
        </p:txBody>
      </p:sp>
      <p:sp>
        <p:nvSpPr>
          <p:cNvPr id="17" name="TextBox 16"/>
          <p:cNvSpPr txBox="1"/>
          <p:nvPr/>
        </p:nvSpPr>
        <p:spPr>
          <a:xfrm>
            <a:off x="4343400" y="2304288"/>
            <a:ext cx="3154680" cy="274320"/>
          </a:xfrm>
          <a:prstGeom prst="rect">
            <a:avLst/>
          </a:prstGeom>
          <a:noFill/>
        </p:spPr>
        <p:txBody>
          <a:bodyPr wrap="none">
            <a:spAutoFit/>
          </a:bodyPr>
          <a:lstStyle/>
          <a:p>
            <a:pPr>
              <a:defRPr sz="800">
                <a:solidFill>
                  <a:srgbClr val="64748B"/>
                </a:solidFill>
              </a:defRPr>
            </a:pPr>
            <a:r>
              <a:t>QA-2159–2163</a:t>
            </a:r>
          </a:p>
        </p:txBody>
      </p:sp>
      <p:sp>
        <p:nvSpPr>
          <p:cNvPr id="18" name="Rounded Rectangle 17"/>
          <p:cNvSpPr/>
          <p:nvPr/>
        </p:nvSpPr>
        <p:spPr>
          <a:xfrm>
            <a:off x="7863840" y="1417320"/>
            <a:ext cx="338328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63840" y="1417320"/>
            <a:ext cx="3383280" cy="640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01000" y="1581912"/>
            <a:ext cx="3154680" cy="320040"/>
          </a:xfrm>
          <a:prstGeom prst="rect">
            <a:avLst/>
          </a:prstGeom>
          <a:noFill/>
        </p:spPr>
        <p:txBody>
          <a:bodyPr wrap="none">
            <a:spAutoFit/>
          </a:bodyPr>
          <a:lstStyle/>
          <a:p>
            <a:pPr>
              <a:defRPr sz="1000">
                <a:solidFill>
                  <a:srgbClr val="64748B"/>
                </a:solidFill>
              </a:defRPr>
            </a:pPr>
            <a:r>
              <a:t>Sprint 26.17</a:t>
            </a:r>
          </a:p>
        </p:txBody>
      </p:sp>
      <p:sp>
        <p:nvSpPr>
          <p:cNvPr id="21" name="TextBox 20"/>
          <p:cNvSpPr txBox="1"/>
          <p:nvPr/>
        </p:nvSpPr>
        <p:spPr>
          <a:xfrm>
            <a:off x="8001000" y="1874520"/>
            <a:ext cx="2385461" cy="307777"/>
          </a:xfrm>
          <a:prstGeom prst="rect">
            <a:avLst/>
          </a:prstGeom>
          <a:noFill/>
        </p:spPr>
        <p:txBody>
          <a:bodyPr wrap="none">
            <a:spAutoFit/>
          </a:bodyPr>
          <a:lstStyle/>
          <a:p>
            <a:pPr>
              <a:defRPr sz="2600" b="1">
                <a:solidFill>
                  <a:srgbClr val="1A2332"/>
                </a:solidFill>
              </a:defRPr>
            </a:pPr>
            <a:r>
              <a:rPr sz="1400" dirty="0"/>
              <a:t>Enrollment MSC performance</a:t>
            </a:r>
          </a:p>
        </p:txBody>
      </p:sp>
      <p:sp>
        <p:nvSpPr>
          <p:cNvPr id="22" name="TextBox 21"/>
          <p:cNvSpPr txBox="1"/>
          <p:nvPr/>
        </p:nvSpPr>
        <p:spPr>
          <a:xfrm>
            <a:off x="8001000" y="2304288"/>
            <a:ext cx="3154680" cy="274320"/>
          </a:xfrm>
          <a:prstGeom prst="rect">
            <a:avLst/>
          </a:prstGeom>
          <a:noFill/>
        </p:spPr>
        <p:txBody>
          <a:bodyPr wrap="none">
            <a:spAutoFit/>
          </a:bodyPr>
          <a:lstStyle/>
          <a:p>
            <a:pPr>
              <a:defRPr sz="800">
                <a:solidFill>
                  <a:srgbClr val="64748B"/>
                </a:solidFill>
              </a:defRPr>
            </a:pPr>
            <a:r>
              <a:t>Enrollment MSC perf</a:t>
            </a:r>
          </a:p>
        </p:txBody>
      </p:sp>
      <p:sp>
        <p:nvSpPr>
          <p:cNvPr id="23" name="Rounded Rectangle 22"/>
          <p:cNvSpPr/>
          <p:nvPr/>
        </p:nvSpPr>
        <p:spPr>
          <a:xfrm>
            <a:off x="548640" y="2880360"/>
            <a:ext cx="11064240" cy="182880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2880360"/>
            <a:ext cx="64008" cy="182880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2990088"/>
            <a:ext cx="10744200" cy="320040"/>
          </a:xfrm>
          <a:prstGeom prst="rect">
            <a:avLst/>
          </a:prstGeom>
          <a:noFill/>
        </p:spPr>
        <p:txBody>
          <a:bodyPr wrap="none">
            <a:spAutoFit/>
          </a:bodyPr>
          <a:lstStyle/>
          <a:p>
            <a:pPr>
              <a:defRPr sz="1200" b="1">
                <a:solidFill>
                  <a:srgbClr val="003241"/>
                </a:solidFill>
              </a:defRPr>
            </a:pPr>
            <a:r>
              <a:t>Sprint deliverables</a:t>
            </a:r>
          </a:p>
        </p:txBody>
      </p:sp>
      <p:sp>
        <p:nvSpPr>
          <p:cNvPr id="26" name="TextBox 25"/>
          <p:cNvSpPr txBox="1"/>
          <p:nvPr/>
        </p:nvSpPr>
        <p:spPr>
          <a:xfrm>
            <a:off x="749808" y="3319272"/>
            <a:ext cx="10744200" cy="1325880"/>
          </a:xfrm>
          <a:prstGeom prst="rect">
            <a:avLst/>
          </a:prstGeom>
          <a:noFill/>
        </p:spPr>
        <p:txBody>
          <a:bodyPr wrap="square"/>
          <a:lstStyle/>
          <a:p>
            <a:pPr>
              <a:lnSpc>
                <a:spcPct val="105000"/>
              </a:lnSpc>
              <a:spcAft>
                <a:spcPts val="300"/>
              </a:spcAft>
              <a:defRPr sz="900">
                <a:solidFill>
                  <a:srgbClr val="1A2332"/>
                </a:solidFill>
              </a:defRPr>
            </a:pPr>
            <a:r>
              <a:t>• Mobile 2 MSC performance: Done</a:t>
            </a:r>
          </a:p>
          <a:p>
            <a:pPr>
              <a:lnSpc>
                <a:spcPct val="105000"/>
              </a:lnSpc>
              <a:spcAft>
                <a:spcPts val="300"/>
              </a:spcAft>
              <a:defRPr sz="900">
                <a:solidFill>
                  <a:srgbClr val="1A2332"/>
                </a:solidFill>
              </a:defRPr>
            </a:pPr>
            <a:r>
              <a:t>• Mobile 1 auth / owner-profile / device-push JMeter: Done</a:t>
            </a:r>
          </a:p>
          <a:p>
            <a:pPr>
              <a:lnSpc>
                <a:spcPct val="105000"/>
              </a:lnSpc>
              <a:spcAft>
                <a:spcPts val="300"/>
              </a:spcAft>
              <a:defRPr sz="900">
                <a:solidFill>
                  <a:srgbClr val="1A2332"/>
                </a:solidFill>
              </a:defRPr>
            </a:pPr>
            <a:r>
              <a:t>• Enrollment MSC performance: Remaining — last MSC perf gap</a:t>
            </a:r>
          </a:p>
        </p:txBody>
      </p:sp>
      <p:sp>
        <p:nvSpPr>
          <p:cNvPr id="27" name="Rounded Rectangle 26"/>
          <p:cNvSpPr/>
          <p:nvPr/>
        </p:nvSpPr>
        <p:spPr>
          <a:xfrm>
            <a:off x="548640" y="4892040"/>
            <a:ext cx="11064240" cy="10972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4892040"/>
            <a:ext cx="64008" cy="1097280"/>
          </a:xfrm>
          <a:prstGeom prst="rect">
            <a:avLst/>
          </a:prstGeom>
          <a:solidFill>
            <a:srgbClr val="003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 y="5001768"/>
            <a:ext cx="10744200" cy="320040"/>
          </a:xfrm>
          <a:prstGeom prst="rect">
            <a:avLst/>
          </a:prstGeom>
          <a:noFill/>
        </p:spPr>
        <p:txBody>
          <a:bodyPr wrap="none">
            <a:spAutoFit/>
          </a:bodyPr>
          <a:lstStyle/>
          <a:p>
            <a:pPr>
              <a:defRPr sz="1200" b="1">
                <a:solidFill>
                  <a:srgbClr val="003241"/>
                </a:solidFill>
              </a:defRPr>
            </a:pPr>
            <a:r>
              <a:t>Ongoing baseline track</a:t>
            </a:r>
          </a:p>
        </p:txBody>
      </p:sp>
      <p:sp>
        <p:nvSpPr>
          <p:cNvPr id="30" name="TextBox 29"/>
          <p:cNvSpPr txBox="1"/>
          <p:nvPr/>
        </p:nvSpPr>
        <p:spPr>
          <a:xfrm>
            <a:off x="749808" y="5330952"/>
            <a:ext cx="10744200" cy="594360"/>
          </a:xfrm>
          <a:prstGeom prst="rect">
            <a:avLst/>
          </a:prstGeom>
          <a:noFill/>
        </p:spPr>
        <p:txBody>
          <a:bodyPr wrap="square"/>
          <a:lstStyle/>
          <a:p>
            <a:pPr>
              <a:lnSpc>
                <a:spcPct val="105000"/>
              </a:lnSpc>
              <a:spcAft>
                <a:spcPts val="300"/>
              </a:spcAft>
              <a:defRPr sz="900">
                <a:solidFill>
                  <a:srgbClr val="1A2332"/>
                </a:solidFill>
              </a:defRPr>
            </a:pPr>
            <a:r>
              <a:t>• Performance regression suite already running and healthy — no nightly ask. API GitLab nightly / API regression still pending DevOps ownership.</a:t>
            </a:r>
          </a:p>
        </p:txBody>
      </p:sp>
      <p:sp>
        <p:nvSpPr>
          <p:cNvPr id="31" name="Rectangle 30"/>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Perf intake governance — see next slide</a:t>
            </a:r>
          </a:p>
        </p:txBody>
      </p:sp>
      <p:sp>
        <p:nvSpPr>
          <p:cNvPr id="33" name="TextBox 32"/>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Performance Governance — Leadership Ask</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Stop last-minute emergency intake</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Ask</a:t>
            </a:r>
          </a:p>
        </p:txBody>
      </p:sp>
      <p:sp>
        <p:nvSpPr>
          <p:cNvPr id="8" name="Rounded Rectangle 7"/>
          <p:cNvSpPr/>
          <p:nvPr/>
        </p:nvSpPr>
        <p:spPr>
          <a:xfrm>
            <a:off x="548640" y="1371600"/>
            <a:ext cx="5394960" cy="237744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71600"/>
            <a:ext cx="64008" cy="23774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81328"/>
            <a:ext cx="5074920" cy="320040"/>
          </a:xfrm>
          <a:prstGeom prst="rect">
            <a:avLst/>
          </a:prstGeom>
          <a:noFill/>
        </p:spPr>
        <p:txBody>
          <a:bodyPr wrap="none">
            <a:spAutoFit/>
          </a:bodyPr>
          <a:lstStyle/>
          <a:p>
            <a:pPr>
              <a:defRPr sz="1200" b="1">
                <a:solidFill>
                  <a:srgbClr val="003241"/>
                </a:solidFill>
              </a:defRPr>
            </a:pPr>
            <a:r>
              <a:t>In progress (Sprint 26.15)</a:t>
            </a:r>
          </a:p>
        </p:txBody>
      </p:sp>
      <p:sp>
        <p:nvSpPr>
          <p:cNvPr id="11" name="TextBox 10"/>
          <p:cNvSpPr txBox="1"/>
          <p:nvPr/>
        </p:nvSpPr>
        <p:spPr>
          <a:xfrm>
            <a:off x="749808" y="1810512"/>
            <a:ext cx="5074920" cy="1874520"/>
          </a:xfrm>
          <a:prstGeom prst="rect">
            <a:avLst/>
          </a:prstGeom>
          <a:noFill/>
        </p:spPr>
        <p:txBody>
          <a:bodyPr wrap="square"/>
          <a:lstStyle/>
          <a:p>
            <a:pPr>
              <a:lnSpc>
                <a:spcPct val="105000"/>
              </a:lnSpc>
              <a:spcAft>
                <a:spcPts val="300"/>
              </a:spcAft>
              <a:defRPr sz="950">
                <a:solidFill>
                  <a:srgbClr val="1A2332"/>
                </a:solidFill>
              </a:defRPr>
            </a:pPr>
            <a:r>
              <a:t>• Perf intake template + SLAs by change size (QA-1965–1969)</a:t>
            </a:r>
          </a:p>
          <a:p>
            <a:pPr>
              <a:lnSpc>
                <a:spcPct val="105000"/>
              </a:lnSpc>
              <a:spcAft>
                <a:spcPts val="300"/>
              </a:spcAft>
              <a:defRPr sz="950">
                <a:solidFill>
                  <a:srgbClr val="1A2332"/>
                </a:solidFill>
              </a:defRPr>
            </a:pPr>
            <a:r>
              <a:t>• Confluence Performance Testing Hub governance guidance</a:t>
            </a:r>
          </a:p>
          <a:p>
            <a:pPr>
              <a:lnSpc>
                <a:spcPct val="105000"/>
              </a:lnSpc>
              <a:spcAft>
                <a:spcPts val="300"/>
              </a:spcAft>
              <a:defRPr sz="950">
                <a:solidFill>
                  <a:srgbClr val="1A2332"/>
                </a:solidFill>
              </a:defRPr>
            </a:pPr>
            <a:r>
              <a:t>• Train Dev/QA/PM stakeholders on standard intake process</a:t>
            </a:r>
          </a:p>
        </p:txBody>
      </p:sp>
      <p:sp>
        <p:nvSpPr>
          <p:cNvPr id="12" name="Rounded Rectangle 11"/>
          <p:cNvSpPr/>
          <p:nvPr/>
        </p:nvSpPr>
        <p:spPr>
          <a:xfrm>
            <a:off x="6126480" y="1371600"/>
            <a:ext cx="5394960" cy="237744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1371600"/>
            <a:ext cx="64008" cy="237744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1481328"/>
            <a:ext cx="5074920" cy="320040"/>
          </a:xfrm>
          <a:prstGeom prst="rect">
            <a:avLst/>
          </a:prstGeom>
          <a:noFill/>
        </p:spPr>
        <p:txBody>
          <a:bodyPr wrap="none">
            <a:spAutoFit/>
          </a:bodyPr>
          <a:lstStyle/>
          <a:p>
            <a:pPr>
              <a:defRPr sz="1200" b="1">
                <a:solidFill>
                  <a:srgbClr val="003241"/>
                </a:solidFill>
              </a:defRPr>
            </a:pPr>
            <a:r>
              <a:t>What we need from leadership</a:t>
            </a:r>
          </a:p>
        </p:txBody>
      </p:sp>
      <p:sp>
        <p:nvSpPr>
          <p:cNvPr id="15" name="TextBox 14"/>
          <p:cNvSpPr txBox="1"/>
          <p:nvPr/>
        </p:nvSpPr>
        <p:spPr>
          <a:xfrm>
            <a:off x="6327648" y="1810512"/>
            <a:ext cx="5074920" cy="1874520"/>
          </a:xfrm>
          <a:prstGeom prst="rect">
            <a:avLst/>
          </a:prstGeom>
          <a:noFill/>
        </p:spPr>
        <p:txBody>
          <a:bodyPr wrap="square"/>
          <a:lstStyle/>
          <a:p>
            <a:pPr>
              <a:lnSpc>
                <a:spcPct val="105000"/>
              </a:lnSpc>
              <a:spcAft>
                <a:spcPts val="300"/>
              </a:spcAft>
              <a:defRPr sz="950">
                <a:solidFill>
                  <a:srgbClr val="1A2332"/>
                </a:solidFill>
              </a:defRPr>
            </a:pPr>
            <a:r>
              <a:t>• Mandate perf gate for IDP login, enrollment, contributions, withdrawals before release</a:t>
            </a:r>
          </a:p>
          <a:p>
            <a:pPr>
              <a:lnSpc>
                <a:spcPct val="105000"/>
              </a:lnSpc>
              <a:spcAft>
                <a:spcPts val="300"/>
              </a:spcAft>
              <a:defRPr sz="950">
                <a:solidFill>
                  <a:srgbClr val="1A2332"/>
                </a:solidFill>
              </a:defRPr>
            </a:pPr>
            <a:r>
              <a:t>• Route requests through SDLC intake — not last-minute before deploy</a:t>
            </a:r>
          </a:p>
          <a:p>
            <a:pPr>
              <a:lnSpc>
                <a:spcPct val="105000"/>
              </a:lnSpc>
              <a:spcAft>
                <a:spcPts val="300"/>
              </a:spcAft>
              <a:defRPr sz="950">
                <a:solidFill>
                  <a:srgbClr val="1A2332"/>
                </a:solidFill>
              </a:defRPr>
            </a:pPr>
            <a:r>
              <a:t>• Approve M1 perf script priority: NY, NMD, OKD (QA-1983–1986)</a:t>
            </a:r>
          </a:p>
        </p:txBody>
      </p:sp>
      <p:sp>
        <p:nvSpPr>
          <p:cNvPr id="16" name="Rectangle 15"/>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Contribution JMX delivered Sprint 26.14 — M1 scripts in flight</a:t>
            </a:r>
          </a:p>
        </p:txBody>
      </p:sp>
      <p:sp>
        <p:nvSpPr>
          <p:cNvPr id="18" name="TextBox 17"/>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Capacity — MSC Wrap-up vs New Work</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MSC wrap-up end 26.16 · capacity opens for API suites / Atlas / V2-V3</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Capacity</a:t>
            </a:r>
          </a:p>
        </p:txBody>
      </p:sp>
      <p:pic>
        <p:nvPicPr>
          <p:cNvPr id="8" name="Picture 7" descr="03-capacity-timeline.png"/>
          <p:cNvPicPr>
            <a:picLocks noChangeAspect="1"/>
          </p:cNvPicPr>
          <p:nvPr/>
        </p:nvPicPr>
        <p:blipFill>
          <a:blip r:embed="rId2"/>
          <a:stretch>
            <a:fillRect/>
          </a:stretch>
        </p:blipFill>
        <p:spPr>
          <a:xfrm>
            <a:off x="548640" y="1325880"/>
            <a:ext cx="5669280" cy="3187207"/>
          </a:xfrm>
          <a:prstGeom prst="rect">
            <a:avLst/>
          </a:prstGeom>
        </p:spPr>
      </p:pic>
      <p:sp>
        <p:nvSpPr>
          <p:cNvPr id="9" name="Rounded Rectangle 8"/>
          <p:cNvSpPr/>
          <p:nvPr/>
        </p:nvSpPr>
        <p:spPr>
          <a:xfrm>
            <a:off x="6400800" y="1325880"/>
            <a:ext cx="5212080" cy="489204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325880"/>
            <a:ext cx="64008" cy="4892040"/>
          </a:xfrm>
          <a:prstGeom prst="rect">
            <a:avLst/>
          </a:prstGeom>
          <a:solidFill>
            <a:srgbClr val="00B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1435608"/>
            <a:ext cx="4892040" cy="320040"/>
          </a:xfrm>
          <a:prstGeom prst="rect">
            <a:avLst/>
          </a:prstGeom>
          <a:noFill/>
        </p:spPr>
        <p:txBody>
          <a:bodyPr wrap="none">
            <a:spAutoFit/>
          </a:bodyPr>
          <a:lstStyle/>
          <a:p>
            <a:pPr>
              <a:defRPr sz="1200" b="1">
                <a:solidFill>
                  <a:srgbClr val="003241"/>
                </a:solidFill>
              </a:defRPr>
            </a:pPr>
            <a:r>
              <a:t>Key messages</a:t>
            </a:r>
          </a:p>
        </p:txBody>
      </p:sp>
      <p:sp>
        <p:nvSpPr>
          <p:cNvPr id="12" name="TextBox 11"/>
          <p:cNvSpPr txBox="1"/>
          <p:nvPr/>
        </p:nvSpPr>
        <p:spPr>
          <a:xfrm>
            <a:off x="6601968" y="1764792"/>
            <a:ext cx="4892040" cy="4389120"/>
          </a:xfrm>
          <a:prstGeom prst="rect">
            <a:avLst/>
          </a:prstGeom>
          <a:noFill/>
        </p:spPr>
        <p:txBody>
          <a:bodyPr wrap="square"/>
          <a:lstStyle/>
          <a:p>
            <a:pPr>
              <a:lnSpc>
                <a:spcPct val="105000"/>
              </a:lnSpc>
              <a:spcAft>
                <a:spcPts val="300"/>
              </a:spcAft>
              <a:defRPr sz="900">
                <a:solidFill>
                  <a:srgbClr val="1A2332"/>
                </a:solidFill>
              </a:defRPr>
            </a:pPr>
            <a:r>
              <a:rPr sz="1200"/>
              <a:t>• SharePoint hub publish + Enrollment perf · API nightly waits on DevOps</a:t>
            </a:r>
          </a:p>
          <a:p>
            <a:pPr>
              <a:lnSpc>
                <a:spcPct val="105000"/>
              </a:lnSpc>
              <a:spcAft>
                <a:spcPts val="300"/>
              </a:spcAft>
              <a:defRPr sz="900">
                <a:solidFill>
                  <a:srgbClr val="1A2332"/>
                </a:solidFill>
              </a:defRPr>
            </a:pPr>
            <a:r>
              <a:rPr sz="1200"/>
              <a:t>• New work capacity: Support handovers (MFA, Stage5/CAT, V3 IDP/UE) unlock Swapnil capacity for roadmap</a:t>
            </a:r>
          </a:p>
          <a:p>
            <a:pPr>
              <a:lnSpc>
                <a:spcPct val="105000"/>
              </a:lnSpc>
              <a:spcAft>
                <a:spcPts val="300"/>
              </a:spcAft>
              <a:defRPr sz="900">
                <a:solidFill>
                  <a:srgbClr val="1A2332"/>
                </a:solidFill>
              </a:defRPr>
            </a:pPr>
            <a:r>
              <a:rPr sz="1200"/>
              <a:t>• Dinesh + Swapnil → SharePoint, qTest, QC4 wrap-up</a:t>
            </a:r>
          </a:p>
          <a:p>
            <a:pPr>
              <a:lnSpc>
                <a:spcPct val="105000"/>
              </a:lnSpc>
              <a:spcAft>
                <a:spcPts val="300"/>
              </a:spcAft>
              <a:defRPr sz="900">
                <a:solidFill>
                  <a:srgbClr val="1A2332"/>
                </a:solidFill>
              </a:defRPr>
            </a:pPr>
            <a:r>
              <a:rPr sz="1200"/>
              <a:t>• Preeti → Enrollment MSC perf (last MSC perf gap)</a:t>
            </a:r>
          </a:p>
          <a:p>
            <a:pPr>
              <a:lnSpc>
                <a:spcPct val="105000"/>
              </a:lnSpc>
              <a:spcAft>
                <a:spcPts val="300"/>
              </a:spcAft>
              <a:defRPr sz="900">
                <a:solidFill>
                  <a:srgbClr val="1A2332"/>
                </a:solidFill>
              </a:defRPr>
            </a:pPr>
            <a:r>
              <a:rPr sz="1200"/>
              <a:t>• Ask: name MFA / Stage5 / V3 / API-nightly owners — then Atlas vs suite packaging</a:t>
            </a:r>
          </a:p>
        </p:txBody>
      </p:sp>
      <p:sp>
        <p:nvSpPr>
          <p:cNvPr id="13" name="Rectangle 12"/>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MSC coding done — support handovers unlock capacity</a:t>
            </a:r>
          </a:p>
        </p:txBody>
      </p:sp>
      <p:sp>
        <p:nvSpPr>
          <p:cNvPr id="15" name="TextBox 14"/>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V2 → V3 Migration Path</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Reduce Jenkins footprint</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Strategy</a:t>
            </a:r>
          </a:p>
        </p:txBody>
      </p:sp>
      <p:sp>
        <p:nvSpPr>
          <p:cNvPr id="8" name="Rounded Rectangle 7"/>
          <p:cNvSpPr/>
          <p:nvPr/>
        </p:nvSpPr>
        <p:spPr>
          <a:xfrm>
            <a:off x="548640" y="1371600"/>
            <a:ext cx="11064240" cy="411480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71600"/>
            <a:ext cx="64008" cy="4114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81328"/>
            <a:ext cx="10744200" cy="320040"/>
          </a:xfrm>
          <a:prstGeom prst="rect">
            <a:avLst/>
          </a:prstGeom>
          <a:noFill/>
        </p:spPr>
        <p:txBody>
          <a:bodyPr wrap="none">
            <a:spAutoFit/>
          </a:bodyPr>
          <a:lstStyle/>
          <a:p>
            <a:pPr>
              <a:defRPr sz="1200" b="1">
                <a:solidFill>
                  <a:srgbClr val="003241"/>
                </a:solidFill>
              </a:defRPr>
            </a:pPr>
            <a:r>
              <a:t>Plan</a:t>
            </a:r>
          </a:p>
        </p:txBody>
      </p:sp>
      <p:sp>
        <p:nvSpPr>
          <p:cNvPr id="11" name="TextBox 10"/>
          <p:cNvSpPr txBox="1"/>
          <p:nvPr/>
        </p:nvSpPr>
        <p:spPr>
          <a:xfrm>
            <a:off x="749808" y="1810512"/>
            <a:ext cx="10744200" cy="3611880"/>
          </a:xfrm>
          <a:prstGeom prst="rect">
            <a:avLst/>
          </a:prstGeom>
          <a:noFill/>
        </p:spPr>
        <p:txBody>
          <a:bodyPr wrap="square"/>
          <a:lstStyle/>
          <a:p>
            <a:pPr>
              <a:lnSpc>
                <a:spcPct val="105000"/>
              </a:lnSpc>
              <a:spcAft>
                <a:spcPts val="300"/>
              </a:spcAft>
              <a:defRPr sz="950">
                <a:solidFill>
                  <a:srgbClr val="1A2332"/>
                </a:solidFill>
              </a:defRPr>
            </a:pPr>
            <a:r>
              <a:rPr sz="1200"/>
              <a:t>• Retire obsolete V2 member/login/enrollment as Direct→universal completes; expand daily with existing automation</a:t>
            </a:r>
          </a:p>
          <a:p>
            <a:pPr>
              <a:lnSpc>
                <a:spcPct val="105000"/>
              </a:lnSpc>
              <a:spcAft>
                <a:spcPts val="300"/>
              </a:spcAft>
              <a:defRPr sz="950">
                <a:solidFill>
                  <a:srgbClr val="1A2332"/>
                </a:solidFill>
              </a:defRPr>
            </a:pPr>
            <a:r>
              <a:rPr sz="1200"/>
              <a:t>• Stage1 Direct plans on universal — V2 member IDP no longer valid</a:t>
            </a:r>
          </a:p>
          <a:p>
            <a:pPr>
              <a:lnSpc>
                <a:spcPct val="105000"/>
              </a:lnSpc>
              <a:spcAft>
                <a:spcPts val="300"/>
              </a:spcAft>
              <a:defRPr sz="950">
                <a:solidFill>
                  <a:srgbClr val="1A2332"/>
                </a:solidFill>
              </a:defRPr>
            </a:pPr>
            <a:r>
              <a:rPr sz="1200"/>
              <a:t>• Approve permanent retirement of V2 member IDP for migrated plans and V3 as source of truth?</a:t>
            </a:r>
          </a:p>
          <a:p>
            <a:pPr>
              <a:lnSpc>
                <a:spcPct val="105000"/>
              </a:lnSpc>
              <a:spcAft>
                <a:spcPts val="300"/>
              </a:spcAft>
              <a:defRPr sz="950">
                <a:solidFill>
                  <a:srgbClr val="1A2332"/>
                </a:solidFill>
              </a:defRPr>
            </a:pPr>
            <a:r>
              <a:rPr sz="1200"/>
              <a:t>• Lead: Venkatesh Mallela</a:t>
            </a:r>
          </a:p>
          <a:p>
            <a:pPr>
              <a:lnSpc>
                <a:spcPct val="105000"/>
              </a:lnSpc>
              <a:spcAft>
                <a:spcPts val="300"/>
              </a:spcAft>
              <a:defRPr sz="950">
                <a:solidFill>
                  <a:srgbClr val="1A2332"/>
                </a:solidFill>
              </a:defRPr>
            </a:pPr>
            <a:r>
              <a:rPr sz="1200"/>
              <a:t>• Outcome: lighter GitLab-based V3 suites; retire duplicate V2 enrollment from Jenkins</a:t>
            </a:r>
          </a:p>
        </p:txBody>
      </p:sp>
      <p:sp>
        <p:nvSpPr>
          <p:cNvPr id="12" name="Rectangle 11"/>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Aligns with platform direction — V3 as source of truth</a:t>
            </a:r>
          </a:p>
        </p:txBody>
      </p:sp>
      <p:sp>
        <p:nvSpPr>
          <p:cNvPr id="14" name="TextBox 13"/>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Incoming: ACS-5678 Atlas</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Traffic distribution &amp; load balancer rebalancing</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New work</a:t>
            </a:r>
          </a:p>
        </p:txBody>
      </p:sp>
      <p:sp>
        <p:nvSpPr>
          <p:cNvPr id="8" name="Rounded Rectangle 7"/>
          <p:cNvSpPr/>
          <p:nvPr/>
        </p:nvSpPr>
        <p:spPr>
          <a:xfrm>
            <a:off x="548640" y="1371600"/>
            <a:ext cx="11064240" cy="384048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71600"/>
            <a:ext cx="64008" cy="384048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81328"/>
            <a:ext cx="10744200" cy="320040"/>
          </a:xfrm>
          <a:prstGeom prst="rect">
            <a:avLst/>
          </a:prstGeom>
          <a:noFill/>
        </p:spPr>
        <p:txBody>
          <a:bodyPr wrap="none">
            <a:spAutoFit/>
          </a:bodyPr>
          <a:lstStyle/>
          <a:p>
            <a:pPr>
              <a:defRPr sz="1200" b="1">
                <a:solidFill>
                  <a:srgbClr val="003241"/>
                </a:solidFill>
              </a:defRPr>
            </a:pPr>
            <a:r>
              <a:t>AHA summary (Brian Danilczyk)</a:t>
            </a:r>
          </a:p>
        </p:txBody>
      </p:sp>
      <p:sp>
        <p:nvSpPr>
          <p:cNvPr id="11" name="TextBox 10"/>
          <p:cNvSpPr txBox="1"/>
          <p:nvPr/>
        </p:nvSpPr>
        <p:spPr>
          <a:xfrm>
            <a:off x="749808" y="1810512"/>
            <a:ext cx="10744200" cy="3337560"/>
          </a:xfrm>
          <a:prstGeom prst="rect">
            <a:avLst/>
          </a:prstGeom>
          <a:noFill/>
        </p:spPr>
        <p:txBody>
          <a:bodyPr wrap="square"/>
          <a:lstStyle/>
          <a:p>
            <a:pPr>
              <a:lnSpc>
                <a:spcPct val="105000"/>
              </a:lnSpc>
              <a:spcAft>
                <a:spcPts val="300"/>
              </a:spcAft>
              <a:defRPr sz="950">
                <a:solidFill>
                  <a:srgbClr val="1A2332"/>
                </a:solidFill>
              </a:defRPr>
            </a:pPr>
            <a:r>
              <a:t>• ACS-5678 — Atlas Traffic Distribution &amp; Load Balancer Rebalancing — #2 on Michael's list</a:t>
            </a:r>
          </a:p>
          <a:p>
            <a:pPr>
              <a:lnSpc>
                <a:spcPct val="105000"/>
              </a:lnSpc>
              <a:spcAft>
                <a:spcPts val="300"/>
              </a:spcAft>
              <a:defRPr sz="950">
                <a:solidFill>
                  <a:srgbClr val="1A2332"/>
                </a:solidFill>
              </a:defRPr>
            </a:pPr>
            <a:r>
              <a:t>• Estimate: 2–3 sprints · Target: October 2026 delivery</a:t>
            </a:r>
          </a:p>
          <a:p>
            <a:pPr>
              <a:lnSpc>
                <a:spcPct val="105000"/>
              </a:lnSpc>
              <a:spcAft>
                <a:spcPts val="300"/>
              </a:spcAft>
              <a:defRPr sz="950">
                <a:solidFill>
                  <a:srgbClr val="1A2332"/>
                </a:solidFill>
              </a:defRPr>
            </a:pPr>
            <a:r>
              <a:t>• Status: Ready after MSC wrap-up — confirm queue vs API nightly ownership + support handovers</a:t>
            </a:r>
          </a:p>
          <a:p>
            <a:pPr>
              <a:lnSpc>
                <a:spcPct val="105000"/>
              </a:lnSpc>
              <a:spcAft>
                <a:spcPts val="300"/>
              </a:spcAft>
              <a:defRPr sz="950">
                <a:solidFill>
                  <a:srgbClr val="1A2332"/>
                </a:solidFill>
              </a:defRPr>
            </a:pPr>
            <a:r>
              <a:t>• Dependency: Redis session-management initiative</a:t>
            </a:r>
          </a:p>
          <a:p>
            <a:pPr>
              <a:lnSpc>
                <a:spcPct val="105000"/>
              </a:lnSpc>
              <a:spcAft>
                <a:spcPts val="300"/>
              </a:spcAft>
              <a:defRPr sz="950">
                <a:solidFill>
                  <a:srgbClr val="1A2332"/>
                </a:solidFill>
              </a:defRPr>
            </a:pPr>
            <a:r>
              <a:t>• Scope: validate traffic distribution after Redis session externalization; load + perf testing</a:t>
            </a:r>
          </a:p>
          <a:p>
            <a:pPr>
              <a:lnSpc>
                <a:spcPct val="105000"/>
              </a:lnSpc>
              <a:spcAft>
                <a:spcPts val="300"/>
              </a:spcAft>
              <a:defRPr sz="950">
                <a:solidFill>
                  <a:srgbClr val="1A2332"/>
                </a:solidFill>
              </a:defRPr>
            </a:pPr>
            <a:r>
              <a:t>• Main squad can start intake next sprint while 1 resource finishes MSC wrap-up</a:t>
            </a:r>
          </a:p>
        </p:txBody>
      </p:sp>
      <p:sp>
        <p:nvSpPr>
          <p:cNvPr id="12" name="Rectangle 11"/>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Confirm priority vs MSC wrap-up, V2 sunset, and other AHA items</a:t>
            </a:r>
          </a:p>
        </p:txBody>
      </p:sp>
      <p:sp>
        <p:nvSpPr>
          <p:cNvPr id="14" name="TextBox 13"/>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56032"/>
            <a:ext cx="8686800" cy="502920"/>
          </a:xfrm>
          <a:prstGeom prst="rect">
            <a:avLst/>
          </a:prstGeom>
          <a:noFill/>
        </p:spPr>
        <p:txBody>
          <a:bodyPr wrap="none">
            <a:spAutoFit/>
          </a:bodyPr>
          <a:lstStyle/>
          <a:p>
            <a:pPr>
              <a:defRPr sz="2800" b="1">
                <a:solidFill>
                  <a:srgbClr val="FFFFFF"/>
                </a:solidFill>
              </a:defRPr>
            </a:pPr>
            <a:r>
              <a:t>Leadership Asks &amp; Decisions Needed</a:t>
            </a:r>
          </a:p>
        </p:txBody>
      </p:sp>
      <p:sp>
        <p:nvSpPr>
          <p:cNvPr id="6" name="TextBox 5"/>
          <p:cNvSpPr txBox="1"/>
          <p:nvPr/>
        </p:nvSpPr>
        <p:spPr>
          <a:xfrm>
            <a:off x="548640" y="658368"/>
            <a:ext cx="8229600" cy="320040"/>
          </a:xfrm>
          <a:prstGeom prst="rect">
            <a:avLst/>
          </a:prstGeom>
          <a:noFill/>
        </p:spPr>
        <p:txBody>
          <a:bodyPr wrap="none">
            <a:spAutoFit/>
          </a:bodyPr>
          <a:lstStyle/>
          <a:p>
            <a:pPr>
              <a:defRPr sz="1200">
                <a:solidFill>
                  <a:srgbClr val="00B388"/>
                </a:solidFill>
              </a:defRPr>
            </a:pPr>
            <a:r>
              <a:t>Please respond on this call — by area</a:t>
            </a:r>
          </a:p>
        </p:txBody>
      </p:sp>
      <p:sp>
        <p:nvSpPr>
          <p:cNvPr id="7" name="Rounded Rectangle 6"/>
          <p:cNvSpPr/>
          <p:nvPr/>
        </p:nvSpPr>
        <p:spPr>
          <a:xfrm>
            <a:off x="10241280" y="320040"/>
            <a:ext cx="146304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Decisions</a:t>
            </a:r>
          </a:p>
        </p:txBody>
      </p:sp>
      <p:sp>
        <p:nvSpPr>
          <p:cNvPr id="8" name="Rounded Rectangle 7"/>
          <p:cNvSpPr/>
          <p:nvPr/>
        </p:nvSpPr>
        <p:spPr>
          <a:xfrm>
            <a:off x="548640" y="1325880"/>
            <a:ext cx="11064240" cy="4892040"/>
          </a:xfrm>
          <a:prstGeom prst="roundRect">
            <a:avLst/>
          </a:prstGeom>
          <a:solidFill>
            <a:srgbClr val="E8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64008" cy="48920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35608"/>
            <a:ext cx="5303520" cy="1633781"/>
          </a:xfrm>
          <a:prstGeom prst="rect">
            <a:avLst/>
          </a:prstGeom>
          <a:noFill/>
        </p:spPr>
        <p:txBody>
          <a:bodyPr wrap="square">
            <a:spAutoFit/>
          </a:bodyPr>
          <a:lstStyle/>
          <a:p>
            <a:pPr>
              <a:spcAft>
                <a:spcPts val="200"/>
              </a:spcAft>
              <a:defRPr sz="1000" b="1">
                <a:solidFill>
                  <a:srgbClr val="003241"/>
                </a:solidFill>
              </a:defRPr>
            </a:pPr>
            <a:r>
              <a:rPr sz="1200"/>
              <a:t>Support ownership (critical)</a:t>
            </a:r>
          </a:p>
          <a:p>
            <a:pPr>
              <a:lnSpc>
                <a:spcPct val="100000"/>
              </a:lnSpc>
              <a:spcAft>
                <a:spcPts val="100"/>
              </a:spcAft>
              <a:defRPr sz="750">
                <a:solidFill>
                  <a:srgbClr val="1A2332"/>
                </a:solidFill>
              </a:defRPr>
            </a:pPr>
            <a:r>
              <a:rPr sz="1200"/>
              <a:t>• Stage1 MFA / DB update support for offshore — name owner or grant update path (today: Swapnil only)</a:t>
            </a:r>
          </a:p>
          <a:p>
            <a:pPr>
              <a:lnSpc>
                <a:spcPct val="100000"/>
              </a:lnSpc>
              <a:spcAft>
                <a:spcPts val="100"/>
              </a:spcAft>
              <a:defRPr sz="750">
                <a:solidFill>
                  <a:srgbClr val="1A2332"/>
                </a:solidFill>
              </a:defRPr>
            </a:pPr>
            <a:r>
              <a:rPr sz="1200"/>
              <a:t>• Stage5 / CAT regression takeover — V2 + V3 smoke suites running; name sustaining owner</a:t>
            </a:r>
          </a:p>
          <a:p>
            <a:pPr>
              <a:lnSpc>
                <a:spcPct val="100000"/>
              </a:lnSpc>
              <a:spcAft>
                <a:spcPts val="100"/>
              </a:spcAft>
              <a:defRPr sz="750">
                <a:solidFill>
                  <a:srgbClr val="1A2332"/>
                </a:solidFill>
              </a:defRPr>
            </a:pPr>
            <a:r>
              <a:rPr sz="1200"/>
              <a:t>• V3 IDP + Universal Enrollment — name sustaining support owner</a:t>
            </a:r>
          </a:p>
          <a:p>
            <a:pPr>
              <a:lnSpc>
                <a:spcPct val="100000"/>
              </a:lnSpc>
              <a:spcAft>
                <a:spcPts val="100"/>
              </a:spcAft>
              <a:defRPr sz="750">
                <a:solidFill>
                  <a:srgbClr val="1A2332"/>
                </a:solidFill>
              </a:defRPr>
            </a:pPr>
            <a:r>
              <a:rPr sz="1200"/>
              <a:t>• API GitLab nightly — confirm DevOps owner; copy DB files to server; turn on job (setup mostly ready)</a:t>
            </a:r>
          </a:p>
        </p:txBody>
      </p:sp>
      <p:sp>
        <p:nvSpPr>
          <p:cNvPr id="11" name="TextBox 10"/>
          <p:cNvSpPr txBox="1"/>
          <p:nvPr/>
        </p:nvSpPr>
        <p:spPr>
          <a:xfrm>
            <a:off x="6190488" y="1435608"/>
            <a:ext cx="5303520" cy="869469"/>
          </a:xfrm>
          <a:prstGeom prst="rect">
            <a:avLst/>
          </a:prstGeom>
          <a:noFill/>
        </p:spPr>
        <p:txBody>
          <a:bodyPr wrap="square">
            <a:spAutoFit/>
          </a:bodyPr>
          <a:lstStyle/>
          <a:p>
            <a:pPr>
              <a:spcAft>
                <a:spcPts val="200"/>
              </a:spcAft>
              <a:defRPr sz="1000" b="1">
                <a:solidFill>
                  <a:srgbClr val="003241"/>
                </a:solidFill>
              </a:defRPr>
            </a:pPr>
            <a:r>
              <a:rPr sz="1200"/>
              <a:t>Roadmap &amp; capacity</a:t>
            </a:r>
          </a:p>
          <a:p>
            <a:pPr>
              <a:lnSpc>
                <a:spcPct val="100000"/>
              </a:lnSpc>
              <a:spcAft>
                <a:spcPts val="100"/>
              </a:spcAft>
              <a:defRPr sz="750">
                <a:solidFill>
                  <a:srgbClr val="1A2332"/>
                </a:solidFill>
              </a:defRPr>
            </a:pPr>
            <a:r>
              <a:rPr sz="1200"/>
              <a:t>• Confirm post-MSC queue: Atlas (Oct) vs API suite packaging (QA-892) vs V2/V3 + Stage5 support?</a:t>
            </a:r>
          </a:p>
          <a:p>
            <a:pPr>
              <a:lnSpc>
                <a:spcPct val="100000"/>
              </a:lnSpc>
              <a:spcAft>
                <a:spcPts val="100"/>
              </a:spcAft>
              <a:defRPr sz="750">
                <a:solidFill>
                  <a:srgbClr val="1A2332"/>
                </a:solidFill>
              </a:defRPr>
            </a:pPr>
            <a:r>
              <a:rPr sz="1200"/>
              <a:t>• Accept: Performance regression is healthy — no change needed</a:t>
            </a:r>
          </a:p>
        </p:txBody>
      </p:sp>
      <p:sp>
        <p:nvSpPr>
          <p:cNvPr id="12" name="TextBox 11"/>
          <p:cNvSpPr txBox="1"/>
          <p:nvPr/>
        </p:nvSpPr>
        <p:spPr>
          <a:xfrm>
            <a:off x="749808" y="3371088"/>
            <a:ext cx="5303520" cy="1066959"/>
          </a:xfrm>
          <a:prstGeom prst="rect">
            <a:avLst/>
          </a:prstGeom>
          <a:noFill/>
        </p:spPr>
        <p:txBody>
          <a:bodyPr wrap="square">
            <a:spAutoFit/>
          </a:bodyPr>
          <a:lstStyle/>
          <a:p>
            <a:pPr>
              <a:spcAft>
                <a:spcPts val="200"/>
              </a:spcAft>
              <a:defRPr sz="1000" b="1">
                <a:solidFill>
                  <a:srgbClr val="003241"/>
                </a:solidFill>
              </a:defRPr>
            </a:pPr>
            <a:r>
              <a:rPr sz="1200"/>
              <a:t>Unite MSC / API automation</a:t>
            </a:r>
          </a:p>
          <a:p>
            <a:pPr>
              <a:lnSpc>
                <a:spcPct val="100000"/>
              </a:lnSpc>
              <a:spcAft>
                <a:spcPts val="100"/>
              </a:spcAft>
              <a:defRPr sz="750">
                <a:solidFill>
                  <a:srgbClr val="1A2332"/>
                </a:solidFill>
              </a:defRPr>
            </a:pPr>
            <a:r>
              <a:rPr sz="1200"/>
              <a:t>• Accept M1/M2/Enrollment coding complete — remaining = SharePoint publish + Enrollment perf + API nightly</a:t>
            </a:r>
          </a:p>
          <a:p>
            <a:pPr>
              <a:lnSpc>
                <a:spcPct val="100000"/>
              </a:lnSpc>
              <a:spcAft>
                <a:spcPts val="100"/>
              </a:spcAft>
              <a:defRPr sz="750">
                <a:solidFill>
                  <a:srgbClr val="1A2332"/>
                </a:solidFill>
              </a:defRPr>
            </a:pPr>
            <a:r>
              <a:rPr sz="1200"/>
              <a:t>• API regression still pending until GitLab nightly is owned and scheduled</a:t>
            </a:r>
          </a:p>
          <a:p>
            <a:pPr>
              <a:lnSpc>
                <a:spcPct val="100000"/>
              </a:lnSpc>
              <a:spcAft>
                <a:spcPts val="100"/>
              </a:spcAft>
              <a:defRPr sz="750">
                <a:solidFill>
                  <a:srgbClr val="1A2332"/>
                </a:solidFill>
              </a:defRPr>
            </a:pPr>
            <a:r>
              <a:rPr sz="1200"/>
              <a:t>• Name ACM / sustaining reader for MSC SharePoint hub after publish</a:t>
            </a:r>
          </a:p>
        </p:txBody>
      </p:sp>
      <p:sp>
        <p:nvSpPr>
          <p:cNvPr id="13" name="TextBox 12"/>
          <p:cNvSpPr txBox="1"/>
          <p:nvPr/>
        </p:nvSpPr>
        <p:spPr>
          <a:xfrm>
            <a:off x="6190488" y="3371088"/>
            <a:ext cx="5303520" cy="869469"/>
          </a:xfrm>
          <a:prstGeom prst="rect">
            <a:avLst/>
          </a:prstGeom>
          <a:noFill/>
        </p:spPr>
        <p:txBody>
          <a:bodyPr wrap="square">
            <a:spAutoFit/>
          </a:bodyPr>
          <a:lstStyle/>
          <a:p>
            <a:pPr>
              <a:spcAft>
                <a:spcPts val="200"/>
              </a:spcAft>
              <a:defRPr sz="1000" b="1">
                <a:solidFill>
                  <a:srgbClr val="003241"/>
                </a:solidFill>
              </a:defRPr>
            </a:pPr>
            <a:r>
              <a:rPr sz="1200" dirty="0"/>
              <a:t>V2 / V3 / Stage5</a:t>
            </a:r>
          </a:p>
          <a:p>
            <a:pPr>
              <a:lnSpc>
                <a:spcPct val="100000"/>
              </a:lnSpc>
              <a:spcAft>
                <a:spcPts val="100"/>
              </a:spcAft>
              <a:defRPr sz="750">
                <a:solidFill>
                  <a:srgbClr val="1A2332"/>
                </a:solidFill>
              </a:defRPr>
            </a:pPr>
            <a:r>
              <a:rPr sz="1200" dirty="0"/>
              <a:t>• Approve Stage5/CAT as ongoing regression support (not ad hoc Swapnil duty)</a:t>
            </a:r>
          </a:p>
          <a:p>
            <a:pPr>
              <a:lnSpc>
                <a:spcPct val="100000"/>
              </a:lnSpc>
              <a:spcAft>
                <a:spcPts val="100"/>
              </a:spcAft>
              <a:defRPr sz="750">
                <a:solidFill>
                  <a:srgbClr val="1A2332"/>
                </a:solidFill>
              </a:defRPr>
            </a:pPr>
            <a:r>
              <a:rPr sz="1200" dirty="0"/>
              <a:t>• Approve retirement of V2 member IDP for Direct plans now on universal — migrate to V3</a:t>
            </a:r>
          </a:p>
        </p:txBody>
      </p:sp>
      <p:sp>
        <p:nvSpPr>
          <p:cNvPr id="14" name="TextBox 13"/>
          <p:cNvSpPr txBox="1"/>
          <p:nvPr/>
        </p:nvSpPr>
        <p:spPr>
          <a:xfrm>
            <a:off x="749808" y="4840224"/>
            <a:ext cx="5303520" cy="684803"/>
          </a:xfrm>
          <a:prstGeom prst="rect">
            <a:avLst/>
          </a:prstGeom>
          <a:noFill/>
        </p:spPr>
        <p:txBody>
          <a:bodyPr wrap="square">
            <a:spAutoFit/>
          </a:bodyPr>
          <a:lstStyle/>
          <a:p>
            <a:pPr>
              <a:spcAft>
                <a:spcPts val="200"/>
              </a:spcAft>
              <a:defRPr sz="1000" b="1">
                <a:solidFill>
                  <a:srgbClr val="003241"/>
                </a:solidFill>
              </a:defRPr>
            </a:pPr>
            <a:r>
              <a:rPr sz="1200" dirty="0"/>
              <a:t>Performance</a:t>
            </a:r>
          </a:p>
          <a:p>
            <a:pPr>
              <a:lnSpc>
                <a:spcPct val="100000"/>
              </a:lnSpc>
              <a:spcAft>
                <a:spcPts val="100"/>
              </a:spcAft>
              <a:defRPr sz="750">
                <a:solidFill>
                  <a:srgbClr val="1A2332"/>
                </a:solidFill>
              </a:defRPr>
            </a:pPr>
            <a:r>
              <a:rPr sz="1200" dirty="0"/>
              <a:t>• Enrollment MSC perf is the last MSC perf gap — keep priority</a:t>
            </a:r>
          </a:p>
          <a:p>
            <a:pPr>
              <a:lnSpc>
                <a:spcPct val="100000"/>
              </a:lnSpc>
              <a:spcAft>
                <a:spcPts val="100"/>
              </a:spcAft>
              <a:defRPr sz="750">
                <a:solidFill>
                  <a:srgbClr val="1A2332"/>
                </a:solidFill>
              </a:defRPr>
            </a:pPr>
            <a:r>
              <a:rPr sz="1200" dirty="0"/>
              <a:t>• Perf governance: route requests through intake (not last-minute before deploy)</a:t>
            </a:r>
          </a:p>
        </p:txBody>
      </p:sp>
      <p:sp>
        <p:nvSpPr>
          <p:cNvPr id="15" name="Rectangle 14"/>
          <p:cNvSpPr/>
          <p:nvPr/>
        </p:nvSpPr>
        <p:spPr>
          <a:xfrm>
            <a:off x="0" y="6446520"/>
            <a:ext cx="12191695"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6537960"/>
            <a:ext cx="10058400" cy="274320"/>
          </a:xfrm>
          <a:prstGeom prst="rect">
            <a:avLst/>
          </a:prstGeom>
          <a:noFill/>
        </p:spPr>
        <p:txBody>
          <a:bodyPr wrap="none">
            <a:spAutoFit/>
          </a:bodyPr>
          <a:lstStyle/>
          <a:p>
            <a:pPr>
              <a:defRPr sz="800">
                <a:solidFill>
                  <a:srgbClr val="64748B"/>
                </a:solidFill>
              </a:defRPr>
            </a:pPr>
            <a:r>
              <a:t>Full ask list in companion DOCX · Swapnil Patil · QA Automation AM Squad</a:t>
            </a:r>
          </a:p>
        </p:txBody>
      </p:sp>
      <p:sp>
        <p:nvSpPr>
          <p:cNvPr id="17" name="TextBox 16"/>
          <p:cNvSpPr txBox="1"/>
          <p:nvPr/>
        </p:nvSpPr>
        <p:spPr>
          <a:xfrm>
            <a:off x="11430000" y="6537960"/>
            <a:ext cx="457200" cy="274320"/>
          </a:xfrm>
          <a:prstGeom prst="rect">
            <a:avLst/>
          </a:prstGeom>
          <a:noFill/>
        </p:spPr>
        <p:txBody>
          <a:bodyPr wrap="none">
            <a:spAutoFit/>
          </a:bodyPr>
          <a:lstStyle/>
          <a:p>
            <a:pPr algn="r">
              <a:defRPr sz="900">
                <a:solidFill>
                  <a:srgbClr val="64748B"/>
                </a:solidFill>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0"/>
            <a:ext cx="10058400" cy="914400"/>
          </a:xfrm>
          <a:prstGeom prst="rect">
            <a:avLst/>
          </a:prstGeom>
          <a:noFill/>
        </p:spPr>
        <p:txBody>
          <a:bodyPr wrap="none">
            <a:spAutoFit/>
          </a:bodyPr>
          <a:lstStyle/>
          <a:p>
            <a:pPr>
              <a:defRPr sz="3600" b="1">
                <a:solidFill>
                  <a:srgbClr val="FFFFFF"/>
                </a:solidFill>
              </a:defRPr>
            </a:pPr>
            <a:r>
              <a:t>Questions &amp; Discussion</a:t>
            </a:r>
          </a:p>
        </p:txBody>
      </p:sp>
      <p:sp>
        <p:nvSpPr>
          <p:cNvPr id="4" name="TextBox 3"/>
          <p:cNvSpPr txBox="1"/>
          <p:nvPr/>
        </p:nvSpPr>
        <p:spPr>
          <a:xfrm>
            <a:off x="548640" y="3749039"/>
            <a:ext cx="10058400" cy="457200"/>
          </a:xfrm>
          <a:prstGeom prst="rect">
            <a:avLst/>
          </a:prstGeom>
          <a:noFill/>
        </p:spPr>
        <p:txBody>
          <a:bodyPr wrap="none">
            <a:spAutoFit/>
          </a:bodyPr>
          <a:lstStyle/>
          <a:p>
            <a:pPr>
              <a:defRPr sz="1200">
                <a:solidFill>
                  <a:srgbClr val="00B388"/>
                </a:solidFill>
              </a:defRPr>
            </a:pPr>
            <a:r>
              <a:t>Detailed briefing + PDF shared · Swapnil Patil · QA Automation AM Squad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136</TotalTime>
  <Words>2840</Words>
  <Application>Microsoft Office PowerPoint</Application>
  <PresentationFormat>Widescreen</PresentationFormat>
  <Paragraphs>280</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Swapnil Patil</cp:lastModifiedBy>
  <cp:revision>6</cp:revision>
  <dcterms:created xsi:type="dcterms:W3CDTF">2013-01-27T09:14:16Z</dcterms:created>
  <dcterms:modified xsi:type="dcterms:W3CDTF">2026-10-01T19:44:03Z</dcterms:modified>
  <cp:category/>
</cp:coreProperties>
</file>