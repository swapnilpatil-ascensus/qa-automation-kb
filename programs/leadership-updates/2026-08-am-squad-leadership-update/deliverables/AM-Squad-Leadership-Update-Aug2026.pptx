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9144000" cy="1554480"/>
          </a:xfrm>
          <a:prstGeom prst="rect">
            <a:avLst/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20240"/>
            <a:ext cx="109728" cy="256032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3E0"/>
                </a:solidFill>
              </a:defRPr>
            </a:pPr>
            <a:r>
              <a:t>PORTFOLIO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8046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QA Automation — AM 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B388"/>
                </a:solidFill>
              </a:defRPr>
            </a:pPr>
            <a:r>
              <a:t>Leadership Update · April – August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V2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V3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7763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API/MSC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480559"/>
            <a:ext cx="2606040" cy="384048"/>
          </a:xfrm>
          <a:prstGeom prst="roundRect">
            <a:avLst/>
          </a:prstGeom>
          <a:solidFill>
            <a:srgbClr val="14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Standards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Scorecard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Live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960120"/>
            <a:ext cx="1874519" cy="54864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GitLab merges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121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3 repos · Apr–Aug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960120"/>
            <a:ext cx="1874519" cy="54864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144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Story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545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Sprints 26.04–26.12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960120"/>
            <a:ext cx="1874519" cy="54864"/>
          </a:xfrm>
          <a:prstGeom prst="rect">
            <a:avLst/>
          </a:prstGeom>
          <a:solidFill>
            <a:srgbClr val="00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V2 Stage1 nightly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592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Aug 4 · ~12 mo build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9601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960120"/>
            <a:ext cx="1874519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0881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V3 Stage1 nightly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13441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442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18105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GitLab · Aug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331720"/>
            <a:ext cx="1874519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Perf cases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Labels × plans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2331720"/>
            <a:ext cx="1874519" cy="54864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4144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MSC M2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4144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25/25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Endpoints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40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3400" y="2331720"/>
            <a:ext cx="1874519" cy="54864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MSC M1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~25/29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5312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Core endpoints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0" y="2331720"/>
            <a:ext cx="1874519" cy="1143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2331720"/>
            <a:ext cx="1874519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64808" y="2459736"/>
            <a:ext cx="16916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Period delivery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8" y="2715768"/>
            <a:ext cx="1691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332"/>
                </a:solidFill>
              </a:defRPr>
            </a:pPr>
            <a:r>
              <a:t>1212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8" y="3182112"/>
            <a:ext cx="16916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4748B"/>
                </a:solidFill>
              </a:defRPr>
            </a:pPr>
            <a:r>
              <a:t>Est. cases Apr–Aug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3611880"/>
            <a:ext cx="8503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i="1">
                <a:solidFill>
                  <a:srgbClr val="64748B"/>
                </a:solidFill>
              </a:defRPr>
            </a:pPr>
            <a:r>
              <a:t>V2/V3 = Stage1 nightly snapshots only (built since Q2 2025). Excludes smoke, Stage 2/5, integrations, +33 CSR Actions.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4114800"/>
            <a:ext cx="8503920" cy="1874519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4114800"/>
            <a:ext cx="54864" cy="1874519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22452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How to read these numbers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4553712"/>
            <a:ext cx="822960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V2 + 442 V3 = Stage1 nightly snapshots (Aug 4) — built since Q2 2025, not in Apr–Aug alone.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Excludes smoke (Stage 2/5), integration suites, and +33 CSR Actions pending wire — more coverage exists.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We are NOT claiming 1,212 + 592 + 442 — period delivery vs inventory are different metrics.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~1,212 estimated new coverage in Apr–Aug from 225 Jira stories; nightly totals include pre-April foundation.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Apr–Aug shows acceleration (MSC API sprint Jun–Jul), not greenfield from zero.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291072"/>
            <a:ext cx="91440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291072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4048" y="635508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i="1">
                <a:solidFill>
                  <a:srgbClr val="64748B"/>
                </a:solidFill>
              </a:defRPr>
            </a:pPr>
            <a:r>
              <a:t>Note: 592 V2 and 442 V3 are Stage1 nightly snapshots only — accumulated since Q2 2025, not built in Apr–Aug alone. Smoke (Stage 2/5), integrations, and +33 CSR Actions are additional coverage and are not added to these totals.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" y="6592824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Sources: GitLab MR export · Jira AMSQUAD · Jenkins/GitLab nightly logs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6592824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Headline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121 merged changes to main across 3 automation repositories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545 Jira story points · 245 work items · 20 bugs found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~80% of monthly release validations automated (17 FTE → 2 FTE)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Unite MSC rescued — Mobile 2 at 25/25 endpoints, ~50% ETA savings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Six parallel tracks: V2 · V3 · API/MSC · Perf · Pipeline · Standards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Executive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GitLab Delivery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GitLab</a:t>
            </a:r>
          </a:p>
        </p:txBody>
      </p:sp>
      <p:pic>
        <p:nvPicPr>
          <p:cNvPr id="7" name="Picture 6" descr="01-gitlab-mrs-by-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718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What this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121 total merges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July peak: 38 merges during MSC sprint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Separate from test case counts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GitLab MR export · Apr 1 – Aug 4,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Monthly Automation Delivery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Automation</a:t>
            </a:r>
          </a:p>
        </p:txBody>
      </p:sp>
      <p:pic>
        <p:nvPicPr>
          <p:cNvPr id="7" name="Picture 6" descr="08-monthly-automation-test-cases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625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Period 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V2 + 442 V3 = Stage1 nightly snapshots (Aug 4) — built since Q2 2025, not in Apr–Aug alone.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Excludes smoke (Stage 2/5), integration suites, and +33 CSR Actions pending wire — more coverage exists.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We are NOT claiming 1,212 + 592 + 442 — period delivery vs inventory are different metrics.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~1,212 estimated new coverage in Apr–Aug from 225 Jira stories; nightly totals include pre-April foundation.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Jira AMSQUAD · period delivery estimate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Jira Sprint Delivery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pic>
        <p:nvPicPr>
          <p:cNvPr id="7" name="Picture 6" descr="09-jira-story-points-by-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4106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Sprint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245 items · 545 SP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20 bugs logged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Jira AMSQUAD Sprints 26.04–26.12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Automation Defects Discovered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Quality</a:t>
            </a:r>
          </a:p>
        </p:txBody>
      </p:sp>
      <p:pic>
        <p:nvPicPr>
          <p:cNvPr id="7" name="Picture 6" descr="10-jira-automation-bugs-by-s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28752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Quality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Defects found via nightly triage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Fed into automation bug lifecycle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Jira AMSQUAD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Beyond the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Framework architecture &amp; canonical repo design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AI-accelerated docs, Postman, TestNG boilerplate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qTest master suite &amp; automation bug lifecycle standard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Pipeline/DevOps co-design &amp; module switches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Cross-team emergency support &amp; release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98932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</a:defRPr>
            </a:pPr>
            <a:r>
              <a:t>These investments are not fully captured in delivery charts.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Additional value not captured in merge or test-count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V2 Legacy UI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Jenkins Stage1 nightly · built since Q2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V2 Stage1 Nightly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V2</a:t>
            </a:r>
          </a:p>
        </p:txBody>
      </p:sp>
      <p:pic>
        <p:nvPicPr>
          <p:cNvPr id="7" name="Picture 6" descr="04-v2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4895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What this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592 methods — Stage1 primary nightly only (Aug 4)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Built since Q2 2025 — not Apr–Aug alone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Excludes smoke, Stage 2/5, +33 CSR Actions pending wire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CSR maintenance added Apr–Jul on earlier 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91072"/>
            <a:ext cx="91440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35508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i="1">
                <a:solidFill>
                  <a:srgbClr val="64748B"/>
                </a:solidFill>
              </a:defRPr>
            </a:pPr>
            <a:r>
              <a:t>Note: Additional V2 coverage: Stage 5 smoke, Stage 2 smoke, on-demand fast smoke, +33 CSR Actions.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592824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Jenkins STAGE1-Daily-Unite-Prime-Regression · Aug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592824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V2 Business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Core member journeys covered nightly before release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CSR maintenance gaps closed — high-risk flows automated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Enrollments/login triage separates env vs product defects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V2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V3 Universal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GitLab CI nightly · built since Q2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V3 Stage1 Nightly Snapshot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V3</a:t>
            </a:r>
          </a:p>
        </p:txBody>
      </p:sp>
      <p:pic>
        <p:nvPicPr>
          <p:cNvPr id="7" name="Picture 6" descr="11-v3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69876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What this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442 methods — GitLab Stage1 nightly only (Aug 4)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Framework + CI/CD accumulated over ~1 year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UE 303 = scenarios × plan/traunch matrix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Entity suites expanding — not all in Aug 4 log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291072"/>
            <a:ext cx="91440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35508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i="1">
                <a:solidFill>
                  <a:srgbClr val="64748B"/>
                </a:solidFill>
              </a:defRPr>
            </a:pPr>
            <a:r>
              <a:t>Note: Additional V3 coverage: Stage 5 smoke (UE + IDP), integration profiles, Entity track — not in 442.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592824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GitLab scheduled_regression_job · Aug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592824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V3 Delivery Highlights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Entity registration/login suites expanded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IDP open-account and member withdrawal regression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Flaky-test stabilization and web registration flows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Stage 5 smoke suites for UE + IDP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V3 highlights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API / Unite MSC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Rescued · accelerated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MSC Endpoint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MSC</a:t>
            </a:r>
          </a:p>
        </p:txBody>
      </p:sp>
      <p:pic>
        <p:nvPicPr>
          <p:cNvPr id="7" name="Picture 6" descr="05-unite-msc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32849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MSC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M2 25/25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M1 ~25/29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~50% ETA savings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api-test-automation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API Module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pic>
        <p:nvPicPr>
          <p:cNvPr id="7" name="Picture 6" descr="13-api-regression-by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71285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M1 categories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Auth, profile, biometric, device, bank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Master suite in progress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api-test-automation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873252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Performance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Labels × plans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 Test Case Inventory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pic>
        <p:nvPicPr>
          <p:cNvPr id="7" name="Picture 6" descr="12-perf-test-case-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27233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Why the numbers look large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72 base transaction flows → 323 plan-expanded cases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Bars = flows; line = cases after × plan matrix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4 Jenkins scenarios schedule these permutations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IDP alone: 15 labels × 7 plans = 105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Perf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Performance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Perf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Repeatable baselines — no manual re-run each release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Evidence for platform team pre/post patch comparison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Department perf DoD and BlazeMeter reporting standard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Perf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Investment Allocation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Portfolio</a:t>
            </a:r>
          </a:p>
        </p:txBody>
      </p:sp>
      <p:pic>
        <p:nvPicPr>
          <p:cNvPr id="7" name="Picture 6" descr="06-work-allocation-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305436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Effort mix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MSC API 35%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V2 20%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V3 15%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Perf 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Squad estimate Apr–Jul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Release Automation 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Value</a:t>
            </a:r>
          </a:p>
        </p:txBody>
      </p:sp>
      <p:pic>
        <p:nvPicPr>
          <p:cNvPr id="7" name="Picture 6" descr="07-release-automation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4892040" cy="54154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0" y="868680"/>
            <a:ext cx="3474720" cy="507492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868680"/>
            <a:ext cx="54864" cy="507492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978408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Business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307592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~80% automated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17 FTE → 2 FTE equivalent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Release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AI Acceleration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MSC migration agents — Postman, docs, TestNG boilerplate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Automation bug lifecycle — Cursor skill + standardized reporting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Chart &amp; metrics generators — reproducible leadership packs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Coverage intelligence foundation for monthly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AI tooling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Roadmap Q3–Q4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P0: MSC GitLab nightly · M1 master suite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P1: MSC enrollment API · CSR Actions nightly expansion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P2: Entity V3 nightly · automated monthly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8016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Leadership Asks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64592"/>
            <a:ext cx="1417320" cy="347472"/>
          </a:xfrm>
          <a:prstGeom prst="round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868680"/>
            <a:ext cx="8503920" cy="5029200"/>
          </a:xfrm>
          <a:prstGeom prst="round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68680"/>
            <a:ext cx="54864" cy="5029200"/>
          </a:xfrm>
          <a:prstGeom prst="rect">
            <a:avLst/>
          </a:prstGeom>
          <a:solidFill>
            <a:srgbClr val="00B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7840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3241"/>
                </a:solidFill>
              </a:defRPr>
            </a:pPr>
            <a:r>
              <a:t>Key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82296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Roadmap visibility — AM Squad at SDLC start, not sign-off deadline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Administrative capacity — free lead for architecture &amp; AI tooling</a:t>
            </a:r>
          </a:p>
          <a:p>
            <a:pPr>
              <a:spcAft>
                <a:spcPts val="500"/>
              </a:spcAft>
              <a:defRPr sz="1000">
                <a:solidFill>
                  <a:srgbClr val="1A2332"/>
                </a:solidFill>
              </a:defRPr>
            </a:pPr>
            <a:r>
              <a:t>• Recommended: 30-minute live walkthrough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9144000" cy="18288"/>
          </a:xfrm>
          <a:prstGeom prst="rect">
            <a:avLst/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6574536"/>
            <a:ext cx="7772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574536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4748B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9144000" cy="4572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2860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QA Automation AM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B388"/>
                </a:solidFill>
              </a:defRPr>
            </a:pPr>
            <a:r>
              <a:t>Delivering across six automation channels · Team since Q2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