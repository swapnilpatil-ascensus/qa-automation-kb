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9144000" cy="1554480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20240"/>
            <a:ext cx="109728" cy="25603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3E0"/>
                </a:solidFill>
              </a:defRPr>
            </a:pPr>
            <a:r>
              <a:t>EXECUTIVE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QA Automation — AM Squad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B388"/>
                </a:solidFill>
              </a:defRPr>
            </a:pPr>
            <a:r>
              <a:t>Leadership Glimpse · April – August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77639"/>
            <a:ext cx="2606040" cy="384048"/>
          </a:xfrm>
          <a:prstGeom prst="round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V2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3977639"/>
            <a:ext cx="2606040" cy="384048"/>
          </a:xfrm>
          <a:prstGeom prst="round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V3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77639"/>
            <a:ext cx="2606040" cy="384048"/>
          </a:xfrm>
          <a:prstGeom prst="round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API/MSC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480559"/>
            <a:ext cx="2606040" cy="384048"/>
          </a:xfrm>
          <a:prstGeom prst="round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Perf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4480559"/>
            <a:ext cx="2606040" cy="384048"/>
          </a:xfrm>
          <a:prstGeom prst="round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480559"/>
            <a:ext cx="2606040" cy="384048"/>
          </a:xfrm>
          <a:prstGeom prst="roundRect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Scorecard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Live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9601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1874519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881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GitLab merges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3441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121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105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3 repos · Apr–Aug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9601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960120"/>
            <a:ext cx="1874519" cy="54864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1448" y="10881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Story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13441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545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1448" y="18105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Sprints 26.04–26.12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9601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960120"/>
            <a:ext cx="1874519" cy="54864"/>
          </a:xfrm>
          <a:prstGeom prst="rect">
            <a:avLst/>
          </a:prstGeom>
          <a:solidFill>
            <a:srgbClr val="00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10881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V2 Stage1 nightly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13441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592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18105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Aug 4 · ~12 mo build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9601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960120"/>
            <a:ext cx="1874519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10881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V3 Stage1 nightly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13441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442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18105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GitLab · Aug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23317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2331720"/>
            <a:ext cx="1874519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24597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Perf cases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27157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323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31821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Labels × plans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1720" y="23317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31720" y="2331720"/>
            <a:ext cx="1874519" cy="54864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41448" y="24597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MSC M2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1448" y="27157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25/25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41448" y="31821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Endpoints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23317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43400" y="2331720"/>
            <a:ext cx="1874519" cy="54864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3128" y="24597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MSC M1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3128" y="27157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~25/29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3128" y="31821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Core endpoints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233172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2331720"/>
            <a:ext cx="1874519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64808" y="2459736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Period delivery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4808" y="2715768"/>
            <a:ext cx="1691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32"/>
                </a:solidFill>
              </a:defRPr>
            </a:pPr>
            <a:r>
              <a:t>1212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4808" y="3182112"/>
            <a:ext cx="1691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Est. cases Apr–Aug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361188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V2/V3 = Stage1 nightly snapshots only (built since Q2 2025). Excludes smoke, Stage 2/5, integrations, +33 CSR Actions.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" y="4114800"/>
            <a:ext cx="8503920" cy="1874519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4114800"/>
            <a:ext cx="54864" cy="1874519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22452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How to read these numbers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4553712"/>
            <a:ext cx="822960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592 V2 + 442 V3 = Stage1 nightly snapshots (Aug 4) — built since Q2 2025, not in Apr–Aug alone.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Excludes smoke (Stage 2/5), integration suites, and +33 CSR Actions pending wire — more coverage exists.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We are NOT claiming 1,212 + 592 + 442 — period delivery vs inventory are different metrics.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~1,212 estimated new coverage in Apr–Aug from 225 Jira stories; nightly totals include pre-April foundation.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Apr–Aug shows acceleration (MSC API sprint Jun–Jul), not greenfield from zero.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592 V2 and 442 V3 are Stage1 nightly snapshots only — accumulated since Q2 2025, not built in Apr–Aug alone. Smoke (Stage 2/5), integrations, and +33 CSR Actions are additional coverage and are not added to these totals.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Sources: GitLab MR export · Jira AMSQUAD · Jenkins/GitLab nightly logs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GitLab Delivery Velocity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GitLab</a:t>
            </a:r>
          </a:p>
        </p:txBody>
      </p:sp>
      <p:pic>
        <p:nvPicPr>
          <p:cNvPr id="7" name="Picture 6" descr="01-gitlab-mrs-by-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2718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What this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121 merges to main across automation, prime-test-automation, and api-test-automation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July peak: 38 merges during Unite MSC API sprint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Code delivery metric — separate from test case counts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July = 38 merges (highest month). Counts merged code changes, not test cases or story 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GitLab MR export · Apr 1 – Aug 4,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Monthly Automation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Automation</a:t>
            </a:r>
          </a:p>
        </p:txBody>
      </p:sp>
      <p:pic>
        <p:nvPicPr>
          <p:cNvPr id="7" name="Picture 6" descr="08-monthly-automation-test-cases-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26252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How to interpret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~1212 est. new test cases delivered Apr–Aug (not cumulative)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225 Jira stories closed × channel-specific averages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Includes multi-plan, multi-env, pos/neg permutations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Pre-Apr foundation sits in nightly inventory — chart shows when work landed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Period velocity only — do not add ~1,212 to scorecard inventory (592+442+323).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Jira AMSQUAD Sprints 26.04–26.12 · period delivery estimate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Jira Sprint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Jira</a:t>
            </a:r>
          </a:p>
        </p:txBody>
      </p:sp>
      <p:pic>
        <p:nvPicPr>
          <p:cNvPr id="7" name="Picture 6" descr="09-jira-story-points-by-s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24106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Sprint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245 work items · 545 story points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20 automation-discovered defects logged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Sustained delivery across 9 sprints in reporting window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Story points = committed sprint work closed. Bugs = defects found via nightly regression triage.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Jira AMSQUAD export · Sprints 26.04–26.12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V2 Legacy UI — Stage1 Nightly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V2</a:t>
            </a:r>
          </a:p>
        </p:txBody>
      </p:sp>
      <p:pic>
        <p:nvPicPr>
          <p:cNvPr id="7" name="Picture 6" descr="04-v2-regression-by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24895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What this 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592 test methods — Jenkins Stage1 nightly only (Aug 4)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Built since Q2 2025 — not delivered in Apr–Aug alone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Bars = methods per module; excludes smoke, Stage 2/5, CSR Actions (+33)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CSR maintenance modules added Apr–Jul on top of earlier foundation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Additional V2 coverage exists outside this snapshot: Stage 5 smoke, Stage 2 smoke, +33 CSR Actions (pending nightly wire), on-demand fast smoke.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Jenkins STAGE1-Daily-Unite-Prime-Regression · Aug 4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V3 Universal Platform — Stage1 Nightly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V3</a:t>
            </a:r>
          </a:p>
        </p:txBody>
      </p:sp>
      <p:pic>
        <p:nvPicPr>
          <p:cNvPr id="7" name="Picture 6" descr="11-v3-regression-by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269876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What this 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442 test methods — GitLab Stage1 nightly only (Aug 4)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Built since Q2 2025 — framework, CI/CD, suites accumulated over ~1 year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UE 303 = scenarios × plan/traunch — not 303 unique scripts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Entity suites expanding — not all in Aug 4 nightly 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Additional V3 coverage exists outside this snapshot: Stage 5 smoke (UE + IDP), integration XML profiles, Entity track — not added to 442.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GitLab scheduled_regression_job · Aug 4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API / Unite MSC —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API</a:t>
            </a:r>
          </a:p>
        </p:txBody>
      </p:sp>
      <p:pic>
        <p:nvPicPr>
          <p:cNvPr id="7" name="Picture 6" descr="05-unite-msc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32849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MSC rescue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M2 25/25 endpoints · M1 ~25/29 core categories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Delivered in ~50% of original ETA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AI-assisted migration + canonical TestNG framework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P0: GitLab nightly scheduling (QA-1405)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M2 = full mobile endpoint catalog. M1 ~86% of 29 core categories — master suite still in progress.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api-test-automation repo 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Performance — Test Case Inventory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Perf</a:t>
            </a:r>
          </a:p>
        </p:txBody>
      </p:sp>
      <p:pic>
        <p:nvPicPr>
          <p:cNvPr id="7" name="Picture 6" descr="12-perf-test-case-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4892040" cy="27233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868680"/>
            <a:ext cx="3474720" cy="507492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868680"/>
            <a:ext cx="54864" cy="50749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978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Perf counting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307592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83 base transaction flows → 323 plan-expanded cases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Bars = flows; line = cases after × plan matrix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IDP: 15 labels × 7 plans = 105 cases alone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Barcode SYN-443 delivered in ~1 week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4 Jenkins scenarios schedule runs — not 323 separate jobs. Plan expansion is standard perf counting.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Perf inventory model · Jenkins + BlazeMeter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801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Leadership Asks &amp; 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64592"/>
            <a:ext cx="1417320" cy="347472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868680"/>
            <a:ext cx="8503920" cy="4892040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54864" cy="48920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784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241"/>
                </a:solidFill>
              </a:defRPr>
            </a:pPr>
            <a:r>
              <a:t>Key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Roadmap visibility — engage AM Squad at SDLC start, not sign-off deadline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Administrative capacity — free lead for architecture &amp; AI tooling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P0: MSC GitLab nightly · M1 master suite · enrollment API</a:t>
            </a:r>
          </a:p>
          <a:p>
            <a:pPr>
              <a:spcAft>
                <a:spcPts val="500"/>
              </a:spcAft>
              <a:defRPr sz="1000">
                <a:solidFill>
                  <a:srgbClr val="1A2332"/>
                </a:solidFill>
              </a:defRPr>
            </a:pPr>
            <a:r>
              <a:t>• ~80% release validation automated (17 FTE → 2 FTE equivalent)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1072"/>
            <a:ext cx="9144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291072"/>
            <a:ext cx="9144000" cy="18288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635508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748B"/>
                </a:solidFill>
              </a:defRPr>
            </a:pPr>
            <a:r>
              <a:t>Note: Team formed Q2 2025; Apr–Aug is the 5-month delivery window on top of ~12 months of build.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6592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Full detail: AM-Squad-Leadership-Detailed-Modern-Aug2026.pptx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QA Automation AM Squad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B388"/>
                </a:solidFill>
              </a:defRPr>
            </a:pPr>
            <a:r>
              <a:t>Delivering across six automation channels · Team since Q2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