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rimson Pro Bold" pitchFamily="2" charset="0"/>
      <p:regular r:id="rId13"/>
      <p:bold r:id="rId14"/>
    </p:embeddedFont>
    <p:embeddedFont>
      <p:font typeface="Crimson Pro Light" pitchFamily="2" charset="0"/>
      <p:regular r:id="rId15"/>
      <p:italic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854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841822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Unite MSC Automation Program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2278931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Weekly Leadership Update · July 17, 2026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3925119" y="2775049"/>
            <a:ext cx="967457" cy="188565"/>
          </a:xfrm>
          <a:prstGeom prst="roundRect">
            <a:avLst>
              <a:gd name="adj" fmla="val 22104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99533" y="2812256"/>
            <a:ext cx="1275829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QA AUTOMATION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954563" y="2775049"/>
            <a:ext cx="639366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8977" y="2812256"/>
            <a:ext cx="94773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AMSQUAD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25119" y="3103141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for: Rajiv/Rajib, Henry, Kevin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010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17216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From fragmented legacy coverage to reusable canonical automation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797100"/>
            <a:ext cx="2634555" cy="1319585"/>
          </a:xfrm>
          <a:prstGeom prst="roundRect">
            <a:avLst>
              <a:gd name="adj" fmla="val 394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4855" y="192583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Mobile 2 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194099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functionally complete — 88% endpoint coverage verified. Ready for leadership sign-off pending evidence refresh.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1797100"/>
            <a:ext cx="2634630" cy="1319585"/>
          </a:xfrm>
          <a:prstGeom prst="roundRect">
            <a:avLst>
              <a:gd name="adj" fmla="val 394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384" y="1925836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Mobile 1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194099"/>
            <a:ext cx="23771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sprint focus. Authentication foundation complete; business endpoint automation now underway.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1797100"/>
            <a:ext cx="2634555" cy="1319585"/>
          </a:xfrm>
          <a:prstGeom prst="roundRect">
            <a:avLst>
              <a:gd name="adj" fmla="val 394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41988" y="192583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194099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live on MSC Jenkins. Non-IDP login flow complete; IDP and nightly schedule expanding.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240658"/>
            <a:ext cx="4013820" cy="922660"/>
          </a:xfrm>
          <a:prstGeom prst="roundRect">
            <a:avLst>
              <a:gd name="adj" fmla="val 564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4855" y="3369394"/>
            <a:ext cx="37563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55" y="3637657"/>
            <a:ext cx="37563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GHA deployment validation slice complete. GitLab nightly regression job pending DevOps story approval.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13" y="3240658"/>
            <a:ext cx="4013895" cy="922660"/>
          </a:xfrm>
          <a:prstGeom prst="roundRect">
            <a:avLst>
              <a:gd name="adj" fmla="val 564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62649" y="3369394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V2/V3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649" y="3637657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nightly regression running. Daily triage cadence established and maintained by the team.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Program Metrics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47315"/>
            <a:ext cx="815176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Readiness by workstream — as of July 17, 2026, in Percentile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90711"/>
            <a:ext cx="8151763" cy="4564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5290468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 Mobile 2 and Mobile 1 percentages reflect endpoint automation coverage. Pipeline, Performance, and V2/V3 UI reflect qualitative program readiness assessments.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827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Mobile 2 Endpoint Coverage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1382"/>
            <a:ext cx="4770016" cy="3134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4168" y="1151855"/>
            <a:ext cx="3257699" cy="3413373"/>
          </a:xfrm>
          <a:prstGeom prst="roundRect">
            <a:avLst>
              <a:gd name="adj" fmla="val 2742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608141" y="1275829"/>
            <a:ext cx="300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88% Verified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08141" y="1593652"/>
            <a:ext cx="3009751" cy="181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of </a:t>
            </a: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2026-07-14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formal validation checkpoint.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Coverage is </a:t>
            </a: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 claimed at 100%</a:t>
            </a: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Three endpoints remain excluded or in-gap pending team disposition.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Projected coverage increases after post-07/14 merges are incorporated. A refreshed validation run is required before final sign-off.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183" y="84237"/>
            <a:ext cx="3316635" cy="4974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72827"/>
            <a:ext cx="4722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Mobile 2 Sign-Off Path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864840"/>
            <a:ext cx="47227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Baseline functionally complete — pending evidence refresh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1307827"/>
            <a:ext cx="793254" cy="170855"/>
          </a:xfrm>
          <a:prstGeom prst="roundRect">
            <a:avLst>
              <a:gd name="adj" fmla="val 22108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3538" y="1341537"/>
            <a:ext cx="1115616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COMPLETED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237" y="1596740"/>
            <a:ext cx="168622" cy="1686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1417" y="1593279"/>
            <a:ext cx="18589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Canonical TestNG Migration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1417" y="1870770"/>
            <a:ext cx="1858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migration from legacy framework to reusable canonical TestNG structure complete.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237" y="2592325"/>
            <a:ext cx="168622" cy="1686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1417" y="2588865"/>
            <a:ext cx="1858938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OKD + NMD Environment Support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61417" y="3041972"/>
            <a:ext cx="1858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suites validated against both OKD and NMD deployment targets.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237" y="3592078"/>
            <a:ext cx="168622" cy="1686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1417" y="3588618"/>
            <a:ext cx="1858938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Dynamic SQL Auth + Master Suites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61417" y="4041725"/>
            <a:ext cx="1858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authentication via SQL and master suite orchestration fully implemented.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2999408" y="1307827"/>
            <a:ext cx="789905" cy="170855"/>
          </a:xfrm>
          <a:prstGeom prst="roundRect">
            <a:avLst>
              <a:gd name="adj" fmla="val 22108"/>
            </a:avLst>
          </a:prstGeom>
          <a:noFill/>
          <a:ln w="4763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3066827" y="1341537"/>
            <a:ext cx="1112267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🔲</a:t>
            </a:r>
            <a:r>
              <a:rPr lang="en-US" sz="70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 ITEMS</a:t>
            </a:r>
            <a:endParaRPr lang="en-US" sz="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1526" y="1596740"/>
            <a:ext cx="168622" cy="1686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64706" y="1593279"/>
            <a:ext cx="18589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Final MR Merge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364706" y="1870770"/>
            <a:ext cx="1858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Outstanding merge request must be closed before evidence snapshot is refreshed.</a:t>
            </a:r>
            <a:endParaRPr lang="en-US" sz="8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1526" y="2592325"/>
            <a:ext cx="168622" cy="16862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64706" y="2588865"/>
            <a:ext cx="18589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QC4 + Stage 1 Execution Run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364706" y="2866355"/>
            <a:ext cx="1858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suite execution required on QC4 and Stage 1 environments to confirm stability.</a:t>
            </a:r>
            <a:endParaRPr lang="en-US" sz="8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1526" y="3587911"/>
            <a:ext cx="168622" cy="16862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364706" y="3584451"/>
            <a:ext cx="185893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GitLab Nightly Job Creation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3364706" y="3861941"/>
            <a:ext cx="18589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DevOps story approval required to establish the scheduled regression job in GitLab.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729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Mobile 1 — Active Sprint Focus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50404"/>
            <a:ext cx="3079105" cy="247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7519" y="4067845"/>
            <a:ext cx="353630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 of 27 endpoints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automated to date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882554" y="1434852"/>
            <a:ext cx="4770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Authentication Foundation Complete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82554" y="1752674"/>
            <a:ext cx="47700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non-IDP authentication baseline has been established, enabling systematic business endpoint automation to begin this sprint. IDP compatibility work is scoped for the following sprint.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260381" y="2487588"/>
            <a:ext cx="14288" cy="1779091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70215" y="2619970"/>
            <a:ext cx="372070" cy="14288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27998" y="248758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74507" y="251084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882554" y="2530227"/>
            <a:ext cx="17648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This Sprint (26.11)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82554" y="2848049"/>
            <a:ext cx="176480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1 Non-IDP baseline — core business endpoint automation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92763" y="3364111"/>
            <a:ext cx="372070" cy="14288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7998" y="323172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74507" y="325498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887691" y="3274368"/>
            <a:ext cx="17648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Next Sprint (26.12)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87691" y="3592190"/>
            <a:ext cx="17648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1 IDP compatibility + suite hardening and stabilization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2202"/>
            <a:ext cx="815176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CI/CD Pipeline Workflow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606847"/>
            <a:ext cx="8151763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 Actions deployment validation is distinct from GitLab nightly regression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793998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61910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81209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Nexus Archive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01324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Maven Build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20624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6119" y="4383807"/>
            <a:ext cx="489421" cy="119509"/>
          </a:xfrm>
          <a:prstGeom prst="roundRect">
            <a:avLst>
              <a:gd name="adj" fmla="val 21252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1437" y="4406429"/>
            <a:ext cx="855985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</a:t>
            </a:r>
            <a:endParaRPr lang="en-US" sz="450" dirty="0"/>
          </a:p>
        </p:txBody>
      </p:sp>
      <p:sp>
        <p:nvSpPr>
          <p:cNvPr id="11" name="Text 8"/>
          <p:cNvSpPr/>
          <p:nvPr/>
        </p:nvSpPr>
        <p:spPr>
          <a:xfrm>
            <a:off x="496119" y="4555108"/>
            <a:ext cx="256646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GitHub Actions Dashboard</a:t>
            </a: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Deployment validation slice confirmed live and operational.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3251746" y="4383807"/>
            <a:ext cx="561454" cy="119509"/>
          </a:xfrm>
          <a:prstGeom prst="roundRect">
            <a:avLst>
              <a:gd name="adj" fmla="val 21252"/>
            </a:avLst>
          </a:prstGeom>
          <a:noFill/>
          <a:ln w="4763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97064" y="4406429"/>
            <a:ext cx="928018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🔶</a:t>
            </a:r>
            <a:r>
              <a:rPr lang="en-US" sz="4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PROGRESS</a:t>
            </a:r>
            <a:endParaRPr lang="en-US" sz="450" dirty="0"/>
          </a:p>
        </p:txBody>
      </p:sp>
      <p:sp>
        <p:nvSpPr>
          <p:cNvPr id="14" name="Text 11"/>
          <p:cNvSpPr/>
          <p:nvPr/>
        </p:nvSpPr>
        <p:spPr>
          <a:xfrm>
            <a:off x="3251746" y="4555108"/>
            <a:ext cx="264988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Module Suites</a:t>
            </a: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Suite wiring to GHA pipeline actively being configured and tested.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6090791" y="4383807"/>
            <a:ext cx="447229" cy="119509"/>
          </a:xfrm>
          <a:prstGeom prst="roundRect">
            <a:avLst>
              <a:gd name="adj" fmla="val 21252"/>
            </a:avLst>
          </a:prstGeom>
          <a:noFill/>
          <a:ln w="4763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36109" y="4406429"/>
            <a:ext cx="813792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⬜</a:t>
            </a:r>
            <a:r>
              <a:rPr lang="en-US" sz="4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PENDING</a:t>
            </a:r>
            <a:endParaRPr lang="en-US" sz="450" dirty="0"/>
          </a:p>
        </p:txBody>
      </p:sp>
      <p:sp>
        <p:nvSpPr>
          <p:cNvPr id="17" name="Text 14"/>
          <p:cNvSpPr/>
          <p:nvPr/>
        </p:nvSpPr>
        <p:spPr>
          <a:xfrm>
            <a:off x="6090791" y="4555108"/>
            <a:ext cx="2566467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GitLab Nightly</a:t>
            </a: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Scheduled regression job requires DevOps story creation and approval.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8" y="81335"/>
            <a:ext cx="3320504" cy="4980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67457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Performance Regression Status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849064"/>
            <a:ext cx="4722763" cy="8024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05052" y="971848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MSC Jenkins Job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105052" y="1198290"/>
            <a:ext cx="4420046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850" b="1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Available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Performance regression job provisioned on MSC Jenkins. Foundation infrastructure is live.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746424"/>
            <a:ext cx="4722763" cy="8024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05052" y="1869207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Non-IDP Login → Dashboard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105052" y="2095649"/>
            <a:ext cx="4420046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850" b="1" dirty="0">
                <a:solidFill>
                  <a:srgbClr val="835E5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Complete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End-to-end non-IDP login through dashboard flow validated and passing.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643783"/>
            <a:ext cx="4722763" cy="8024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05052" y="2766566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IDP MSC Login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105052" y="2993008"/>
            <a:ext cx="4420046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🔶</a:t>
            </a: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In Progress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IDP-based login flow under active development. Blocked on clean manual validation baseline.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541142"/>
            <a:ext cx="4722763" cy="80240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05052" y="3663925"/>
            <a:ext cx="44200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Nightly Schedule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4105052" y="3890367"/>
            <a:ext cx="4420046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⬜</a:t>
            </a: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Pending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Nightly execution will be enabled after manual validations pass cleanly and consistently.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3925119" y="4450333"/>
            <a:ext cx="4722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Next flows in queue: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Contribution, Banks, Activity, Mobile 1 — to be sequenced after IDP flow stabilization.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152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Risks &amp; Dependencies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81862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RAG Status — July 17,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198513"/>
            <a:ext cx="8151763" cy="3563466"/>
          </a:xfrm>
          <a:prstGeom prst="roundRect">
            <a:avLst>
              <a:gd name="adj" fmla="val 146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6119" y="156247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119" y="212251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119" y="268255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6119" y="324259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6119" y="4001095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0955" y="1203275"/>
            <a:ext cx="3256880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929" y="128245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Risk / Dependency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57836" y="1203275"/>
            <a:ext cx="1628403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81810" y="1282452"/>
            <a:ext cx="18376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Severity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86239" y="1203275"/>
            <a:ext cx="3256880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10212" y="128245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Impact &amp; Mitigation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164403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GitLab Nightly Not Created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1810" y="1644030"/>
            <a:ext cx="183765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10212" y="1644030"/>
            <a:ext cx="30089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Blocks continuous regression signal for Mobile 2 sign-off. Requires DevOps story approval this sprint.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929" y="220407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Stage 1 / Stage 5 / QC2 Test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81810" y="2204070"/>
            <a:ext cx="183765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Medium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10212" y="2204070"/>
            <a:ext cx="30089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or inconsistent test data in environments delays suite execution and sign-off evidence.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929" y="276411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Enrollment Encryption / Test-Data Utility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81810" y="2764110"/>
            <a:ext cx="183765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Medium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10212" y="2764110"/>
            <a:ext cx="30089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Multi-sprint complexity. Dependency on shared utility development cadence outside team control.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4929" y="3324151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Reporting / Admin Load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81810" y="3324151"/>
            <a:ext cx="183765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Medium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10212" y="3324151"/>
            <a:ext cx="30089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Administrative overhead reducing available engineering sprint capacity. Escalation support requested.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4929" y="4082653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Ad-Hoc Intake (Unstructured)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81810" y="4082653"/>
            <a:ext cx="183765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Medium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10212" y="4082653"/>
            <a:ext cx="30089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Unplanned requests disrupting sprint commitments. Structured backlog intake enforcement needed.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2276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Leadership Asks &amp; Sprint Roadmap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30759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Leadership Actions Requested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060847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96119" y="1212726"/>
            <a:ext cx="4379193" cy="9525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6119" y="1279252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Approve DevOps Story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1500262"/>
            <a:ext cx="43791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Authorize GitLab nightly regression job for Mobile 2 — critical for sign-off evidence.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96119" y="1778273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96119" y="1930152"/>
            <a:ext cx="4379193" cy="9525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119" y="1996678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Confirm Mobile 2 Sign-Off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6119" y="2217688"/>
            <a:ext cx="43791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and approve sign-off after refreshed evidence run is submitted by the team.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6119" y="2495699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6119" y="2647578"/>
            <a:ext cx="4379193" cy="9525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119" y="2714104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Confirm Mobile 1 Priority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119" y="2935114"/>
            <a:ext cx="43791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Affirm sprint commitment to Mobile 1 non-IDP baseline this sprint (26.11).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6119" y="3213125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96119" y="3365004"/>
            <a:ext cx="4379193" cy="9525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6119" y="3431530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Support Pipeline &amp; Environments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119" y="3652540"/>
            <a:ext cx="437919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environment readiness and DevOps alignment across Stage 1, QC4, and GitLab.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6119" y="3930551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6119" y="4082430"/>
            <a:ext cx="4379193" cy="9525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119" y="4148956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Enforce Backlog Intake + Protect Capacity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119" y="4369966"/>
            <a:ext cx="437919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intake for all ad-hoc requests. Support 30–40% capacity protection from BA/Scrum/admin load.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43413" y="758056"/>
            <a:ext cx="3677617" cy="4033093"/>
          </a:xfrm>
          <a:prstGeom prst="roundRect">
            <a:avLst>
              <a:gd name="adj" fmla="val 185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38365" y="830759"/>
            <a:ext cx="348771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Sprint Roadmap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77422" y="1060847"/>
            <a:ext cx="9525" cy="1786533"/>
          </a:xfrm>
          <a:prstGeom prst="roundRect">
            <a:avLst>
              <a:gd name="adj" fmla="val 418779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00031" y="1162869"/>
            <a:ext cx="284857" cy="9525"/>
          </a:xfrm>
          <a:prstGeom prst="roundRect">
            <a:avLst>
              <a:gd name="adj" fmla="val 418779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75363" y="1060847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10933" y="1078595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365" y="1093440"/>
            <a:ext cx="126898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Sprint 26.11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38365" y="1314450"/>
            <a:ext cx="1268983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2 sign-off · Mobile 1 non-IDP baseline · Pipeline GHA module wiring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979481" y="1688157"/>
            <a:ext cx="284857" cy="9525"/>
          </a:xfrm>
          <a:prstGeom prst="roundRect">
            <a:avLst>
              <a:gd name="adj" fmla="val 418779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75363" y="1586136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10933" y="1603883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57021" y="1618729"/>
            <a:ext cx="1269057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Sprint 26.12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57021" y="1839739"/>
            <a:ext cx="1269057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1 IDP compatibility · Suite hardening · GitLab nightly regression live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500031" y="2157040"/>
            <a:ext cx="284857" cy="9525"/>
          </a:xfrm>
          <a:prstGeom prst="roundRect">
            <a:avLst>
              <a:gd name="adj" fmla="val 418779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75363" y="2055019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10933" y="2072767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365" y="2087612"/>
            <a:ext cx="126898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Horizon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38365" y="2308622"/>
            <a:ext cx="1268983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Enrollment API — multi-sprint effort · Performance full flow coverage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867</Words>
  <Application>Microsoft Office PowerPoint</Application>
  <PresentationFormat>On-screen Show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Crimson Pro Bold</vt:lpstr>
      <vt:lpstr>Arial</vt:lpstr>
      <vt:lpstr>Open Sans</vt:lpstr>
      <vt:lpstr>Open Sans Bold</vt:lpstr>
      <vt:lpstr>Crimson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Swapnil Patil</cp:lastModifiedBy>
  <cp:revision>2</cp:revision>
  <dcterms:created xsi:type="dcterms:W3CDTF">2026-07-17T12:50:26Z</dcterms:created>
  <dcterms:modified xsi:type="dcterms:W3CDTF">2026-07-17T13:00:24Z</dcterms:modified>
</cp:coreProperties>
</file>