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97480"/>
            <a:ext cx="12191695" cy="82296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79776"/>
            <a:ext cx="12191695" cy="36576"/>
          </a:xfrm>
          <a:prstGeom prst="rect">
            <a:avLst/>
          </a:prstGeom>
          <a:solidFill>
            <a:srgbClr val="05A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51560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Segoe UI"/>
              </a:defRPr>
            </a:pPr>
            <a:r>
              <a:t>Automation Bug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2600" b="0">
                <a:solidFill>
                  <a:srgbClr val="05A2C6"/>
                </a:solidFill>
                <a:latin typeface="Segoe UI"/>
              </a:defRPr>
            </a:pPr>
            <a:r>
              <a:t>QA Automation Operating Standard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82296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500" b="0">
                <a:solidFill>
                  <a:srgbClr val="64748B"/>
                </a:solidFill>
                <a:latin typeface="Segoe UI"/>
              </a:defRPr>
            </a:pPr>
            <a:r>
              <a:t>Version July 24, 2026  ·  Applicable to all teams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qa-automation-kb  ·  AMSQUAD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2423160" cy="1097280"/>
          </a:xfrm>
          <a:prstGeom prst="roundRect">
            <a:avLst>
              <a:gd name="adj" fmla="val 6000"/>
            </a:avLst>
          </a:prstGeom>
          <a:solidFill>
            <a:srgbClr val="0D2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92040"/>
            <a:ext cx="2423160" cy="64008"/>
          </a:xfrm>
          <a:prstGeom prst="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074920"/>
            <a:ext cx="2423160" cy="2743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34924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Segoe UI"/>
              </a:defRPr>
            </a:pPr>
            <a:r>
              <a:t>Classify first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4892040"/>
            <a:ext cx="2423160" cy="1097280"/>
          </a:xfrm>
          <a:prstGeom prst="roundRect">
            <a:avLst>
              <a:gd name="adj" fmla="val 6000"/>
            </a:avLst>
          </a:prstGeom>
          <a:solidFill>
            <a:srgbClr val="0D2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64408" y="4892040"/>
            <a:ext cx="2423160" cy="64008"/>
          </a:xfrm>
          <a:prstGeom prst="rect">
            <a:avLst/>
          </a:prstGeom>
          <a:solidFill>
            <a:srgbClr val="026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5074920"/>
            <a:ext cx="2423160" cy="2743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534924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Segoe UI"/>
              </a:defRPr>
            </a:pPr>
            <a:r>
              <a:t>One folder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0176" y="4892040"/>
            <a:ext cx="2423160" cy="1097280"/>
          </a:xfrm>
          <a:prstGeom prst="roundRect">
            <a:avLst>
              <a:gd name="adj" fmla="val 6000"/>
            </a:avLst>
          </a:prstGeom>
          <a:solidFill>
            <a:srgbClr val="0D2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0176" y="4892040"/>
            <a:ext cx="2423160" cy="64008"/>
          </a:xfrm>
          <a:prstGeom prst="rect">
            <a:avLst/>
          </a:prstGeom>
          <a:solidFill>
            <a:srgbClr val="2D6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5074920"/>
            <a:ext cx="2423160" cy="2743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Cursor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534924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Segoe UI"/>
              </a:defRPr>
            </a:pPr>
            <a:r>
              <a:t>All comms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4892040"/>
            <a:ext cx="2423160" cy="1097280"/>
          </a:xfrm>
          <a:prstGeom prst="roundRect">
            <a:avLst>
              <a:gd name="adj" fmla="val 6000"/>
            </a:avLst>
          </a:prstGeom>
          <a:solidFill>
            <a:srgbClr val="0D2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4892040"/>
            <a:ext cx="2423160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0536" y="5074920"/>
            <a:ext cx="2423160" cy="2743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GitLab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0536" y="534924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Segoe UI"/>
              </a:defRPr>
            </a:pPr>
            <a:r>
              <a:t>Change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What This Standard Defines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Operating norm for all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Repeatable response when V2 (Jenkins) or V3 (GitLab) regression fails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Applies to any QA Automation team — UI, API, performance, any program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Single source of truth: qa-automation-kb (00_SYSTEM through 11_BACKLOG)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Integrates triage rules, Prompt H, leadership-approved comms, and GitLab change-set tooling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Goal: fast, accurate footprint — not ad-hoc firefighting or noisy JIRA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End-to-End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Seven steps — every regression failure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98448"/>
            <a:ext cx="11313871" cy="4910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end_to_en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08176"/>
            <a:ext cx="10289364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5806440"/>
            <a:ext cx="11094415" cy="34747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Detect → Triage → Evidence → Cursor H → JIRA/Notify → Change Set → Resolve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Step 1 — Triage Before You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Decision tree validated against TRIAGE_RULES.md + FLAKINESS_PLAYBOOK.md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98448"/>
            <a:ext cx="11313871" cy="4910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riage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08176"/>
            <a:ext cx="7125194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5806440"/>
            <a:ext cx="11094415" cy="34747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Environment and flaky failures do not enter the full bug 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2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10058400" cy="7772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Segoe UI"/>
              </a:defRPr>
            </a:pPr>
            <a:r>
              <a:t>Act on a Real Defect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01568"/>
            <a:ext cx="91440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800" b="0">
                <a:solidFill>
                  <a:srgbClr val="05A2C6"/>
                </a:solidFill>
                <a:latin typeface="Segoe UI"/>
              </a:defRPr>
            </a:pPr>
            <a:r>
              <a:t>Evidence · Communications · Change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Four Pillars of the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Validated against repository standards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98448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5349240" cy="73152"/>
          </a:xfrm>
          <a:prstGeom prst="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572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2200" b="1">
                <a:solidFill>
                  <a:srgbClr val="C27800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01368"/>
            <a:ext cx="4946904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600" b="1">
                <a:solidFill>
                  <a:srgbClr val="003241"/>
                </a:solidFill>
                <a:latin typeface="Segoe UI"/>
              </a:defRPr>
            </a:pPr>
            <a:r>
              <a:t>Triage &amp; classify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67128"/>
            <a:ext cx="4946904" cy="11887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Segoe UI"/>
              </a:defRPr>
            </a:pPr>
            <a:r>
              <a:t>Per 04_EXECUTION/TRIAGE_RULES.md. Rerun locally. Env vs flaky vs defect. Do not log JIRA for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98448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298448"/>
            <a:ext cx="5349240" cy="73152"/>
          </a:xfrm>
          <a:prstGeom prst="rect">
            <a:avLst/>
          </a:prstGeom>
          <a:solidFill>
            <a:srgbClr val="026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463040"/>
            <a:ext cx="4572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2200" b="1">
                <a:solidFill>
                  <a:srgbClr val="026B84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801368"/>
            <a:ext cx="4946904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600" b="1">
                <a:solidFill>
                  <a:srgbClr val="003241"/>
                </a:solidFill>
                <a:latin typeface="Segoe UI"/>
              </a:defRPr>
            </a:pPr>
            <a:r>
              <a:t>Evidence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167128"/>
            <a:ext cx="4946904" cy="11887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Segoe UI"/>
              </a:defRPr>
            </a:pPr>
            <a:r>
              <a:t>10_IMPORTS_RAW/regression_reports/[MMDDYYYY]/ — screenshots, logs, test data, one bug .md per issue.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13048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13048"/>
            <a:ext cx="5349240" cy="73152"/>
          </a:xfrm>
          <a:prstGeom prst="rect">
            <a:avLst/>
          </a:prstGeom>
          <a:solidFill>
            <a:srgbClr val="2D6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977640"/>
            <a:ext cx="4572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2200" b="1">
                <a:solidFill>
                  <a:srgbClr val="2D65B4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15968"/>
            <a:ext cx="4946904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600" b="1">
                <a:solidFill>
                  <a:srgbClr val="003241"/>
                </a:solidFill>
                <a:latin typeface="Segoe UI"/>
              </a:defRPr>
            </a:pPr>
            <a:r>
              <a:t>Cursor Prompt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81728"/>
            <a:ext cx="4946904" cy="11887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Segoe UI"/>
              </a:defRPr>
            </a:pPr>
            <a:r>
              <a:t>00_SYSTEM/PROMPTS.md — JIRA block, failure email, Teams message, resolution placeholder in one file.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813048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813048"/>
            <a:ext cx="5349240" cy="73152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3977640"/>
            <a:ext cx="4572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2200" b="1">
                <a:solidFill>
                  <a:srgbClr val="009E86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315968"/>
            <a:ext cx="4946904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600" b="1">
                <a:solidFill>
                  <a:srgbClr val="003241"/>
                </a:solidFill>
                <a:latin typeface="Segoe UI"/>
              </a:defRPr>
            </a:pPr>
            <a:r>
              <a:t>GitLab change 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4681728"/>
            <a:ext cx="4946904" cy="11887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Segoe UI"/>
              </a:defRPr>
            </a:pPr>
            <a:r>
              <a:t>GitLab Project Manager — who merged, who committed, which branches between last green run and failure.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Evidence Folder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BUG_REPORTING_PROCESS.md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98448"/>
            <a:ext cx="11313871" cy="4910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evidence_f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08176"/>
            <a:ext cx="8149975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5806440"/>
            <a:ext cx="11094415" cy="34747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Naming: [MMDDYYYY]_[Feature]_[IssueType].md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Cursor Prompt H — One Prompt, All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05_ONBOARDING/HOW_TO_REPETITIVE_TASKS.md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4892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Open qa-automation-kb in Cursor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00_SYSTEM/PROMPTS.md → section H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Provide: date, feature, error, report URL, folder path, file list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Attach failure screenshots in chat for richer context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Output sections: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JIRA copy-paste block (Summary, Steps, Env, Priority)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Failure email — leadership-approved To/Cc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Teams message with JIRA + report links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Resolution email placeholder (template 1b)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98448"/>
            <a:ext cx="5477256" cy="5001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art_tool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408176"/>
            <a:ext cx="5257800" cy="22814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73368" y="3744518"/>
            <a:ext cx="5257800" cy="34747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Prompt H toolchain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Communication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Leadership-approved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Teams and email templates are approved by leadership and senior QA resources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Use Prompt H output — do not improvise distribution lists or email structure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To: AGS Tech Leads, AGS Chapter Leads, AGS Development, Brian Danilczyk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Cc: Rajib Akhter · Henry Dittmer · Phuong Huynh · Automation.Squad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Subject: [Priority] [Feature] — [Issue Type]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Sources: Confluence Bug Handling PDFs (1. Failure · 1b. Resolution)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GitLab Project Manager —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Change-set investigation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4892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Local utility: GitLabInfoProjUI (read-only GitLab API)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Manage Token — PAT with read_api scope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Select project + date range (last pass → failure)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Tabs: Merge Requests · Commits · Branches · Pipelines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Filter Merged · Search by author or branch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Export CSV/Excel or Copy to clipboard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98448"/>
            <a:ext cx="5477256" cy="5001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lab_project_manager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408176"/>
            <a:ext cx="5257800" cy="210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73368" y="3568213"/>
            <a:ext cx="5257800" cy="34747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Parameter panel — project, date presets, Generate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GitLab Project Manager — Sample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Who changed what — application footprint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298448"/>
            <a:ext cx="4892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Project: monolith · Type: Merge Requests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Date range: last green run → failure date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Per MR: Title · Author · Reviewers · Merged by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Branch flow: source → target (e.g. feature/GRF-1394 → main)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Created At · Merged At (EST timestamps)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Paste Change Set section into JIRA comment or failure email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5477256" cy="5001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lab_mr_result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08176"/>
            <a:ext cx="5257800" cy="38355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298564"/>
            <a:ext cx="5257800" cy="34747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Real output — 8 MRs in window, 4 merged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Repository Investigation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Cross-reference MR authors with failing test area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98448"/>
            <a:ext cx="11313871" cy="4910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po_pr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08176"/>
            <a:ext cx="8883384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5806440"/>
            <a:ext cx="11094415" cy="34747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Start monolith (app) → automation → qa-automation → prime-test-automation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2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10058400" cy="7772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Segoe UI"/>
              </a:defRPr>
            </a:pPr>
            <a:r>
              <a:t>Close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01568"/>
            <a:ext cx="91440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800" b="0">
                <a:solidFill>
                  <a:srgbClr val="05A2C6"/>
                </a:solidFill>
                <a:latin typeface="Segoe UI"/>
              </a:defRPr>
            </a:pPr>
            <a:r>
              <a:t>Resolution · Unlock · Knowledge capture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Defect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JIRA states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98448"/>
            <a:ext cx="11313871" cy="4910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defect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08176"/>
            <a:ext cx="11094415" cy="30047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4467777"/>
            <a:ext cx="11094415" cy="34747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04_EXECUTION/DEFECT_LIFECYCLE.md · TRIAGE_RULES.md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Resolution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Confluence 1b. Automation Bug Resolution Follow-Up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Dev delivers fix or revert on affected branch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QA reruns impacted scenarios (full regression optional)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Update JIRA with RCA → Verified → Closed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Send resolution email — same To/Cc as failure (template 1b)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Unlock monolith/main + automation/main if locked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Update bug .md: JIRA link, Status Closed, resolution section filled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Multi-Failure Rollup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When many tests fail at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Large nightly failures (e.g. 62/358) — group by feature/plan, not per test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Build failure matrix with root-cause hints per traunch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One JIRA per root cause — umbrella + children when needed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Single combined email/Teams with matrix reference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Example: 04202026_DailyRegression_PipelineFailureRollup.md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Repository Map — Where Standards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If it's not in the repo, treat as unknown — per ROLE.md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00_SYSTEM — PROMPTS.md (H), ROLE.md, CONSTRAINTS.md, GLOSSARY.md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04_EXECUTION — DEFECT_LIFECYCLE, TRIAGE_RULES, FLAKINESS_PLAYBOOK, RCA_PROCESS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05_ONBOARDING — HOW_TO_REPETITIVE_TASKS.md (step-by-step)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06_TEMPLATES — JIRA_TICKET_TEMPLATE, RCA_TEMPLATE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10_IMPORTS_RAW — regression_reports/, Confluence Bug Handling PDFs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This module — automation-bug-lifecycle/ (playbook + deck + generator)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6000"/>
            </a:avLst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009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1300" b="0">
                <a:solidFill>
                  <a:srgbClr val="05A2C6"/>
                </a:solidFill>
                <a:latin typeface="Segoe UI"/>
              </a:defRPr>
            </a:pPr>
            <a:r>
              <a:t>QA Automation operating norm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Triage first — not every failure is a defect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One evidence folder · one Prompt H run · one bug .md per issue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Communications use leadership-approved templates — no improvisation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GitLab PM answers who merged and committed in the failure window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Standard applies to any team, any program, going forward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Full playbook: automation-bug-lifecycle/_output/Automation-Bug-Lifecycle-Playbook.docx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914400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QA Automation Standard  ·  Automation Bug Lifecycle  ·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640080" cy="256032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