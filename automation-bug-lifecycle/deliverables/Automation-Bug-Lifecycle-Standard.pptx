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97480"/>
            <a:ext cx="12191695" cy="82296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79776"/>
            <a:ext cx="12191695" cy="36576"/>
          </a:xfrm>
          <a:prstGeom prst="rect">
            <a:avLst/>
          </a:prstGeom>
          <a:solidFill>
            <a:srgbClr val="05A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515600" cy="8686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Segoe UI"/>
              </a:defRPr>
            </a:pPr>
            <a:r>
              <a:t>Automation Bug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600" b="0">
                <a:solidFill>
                  <a:srgbClr val="05A2C6"/>
                </a:solidFill>
                <a:latin typeface="Segoe UI"/>
              </a:defRPr>
            </a:pPr>
            <a:r>
              <a:t>QA Automation Operating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Version August 3, 2026  ·  Applicable to all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qa-automation-kb  ·  AMSQUAD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2423160" cy="1097280"/>
          </a:xfrm>
          <a:prstGeom prst="roundRect">
            <a:avLst>
              <a:gd name="adj" fmla="val 6000"/>
            </a:avLst>
          </a:prstGeom>
          <a:solidFill>
            <a:srgbClr val="0D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892040"/>
            <a:ext cx="2423160" cy="64008"/>
          </a:xfrm>
          <a:prstGeom prst="rect">
            <a:avLst/>
          </a:prstGeom>
          <a:solidFill>
            <a:srgbClr val="C2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074920"/>
            <a:ext cx="2423160" cy="2743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34924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Classify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4892040"/>
            <a:ext cx="2423160" cy="1097280"/>
          </a:xfrm>
          <a:prstGeom prst="roundRect">
            <a:avLst>
              <a:gd name="adj" fmla="val 6000"/>
            </a:avLst>
          </a:prstGeom>
          <a:solidFill>
            <a:srgbClr val="0D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4892040"/>
            <a:ext cx="2423160" cy="64008"/>
          </a:xfrm>
          <a:prstGeom prst="rect">
            <a:avLst/>
          </a:prstGeom>
          <a:solidFill>
            <a:srgbClr val="02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5074920"/>
            <a:ext cx="2423160" cy="2743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34924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One folder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4892040"/>
            <a:ext cx="2423160" cy="1097280"/>
          </a:xfrm>
          <a:prstGeom prst="roundRect">
            <a:avLst>
              <a:gd name="adj" fmla="val 6000"/>
            </a:avLst>
          </a:prstGeom>
          <a:solidFill>
            <a:srgbClr val="0D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176" y="4892040"/>
            <a:ext cx="2423160" cy="64008"/>
          </a:xfrm>
          <a:prstGeom prst="rect">
            <a:avLst/>
          </a:prstGeom>
          <a:solidFill>
            <a:srgbClr val="2D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5074920"/>
            <a:ext cx="2423160" cy="2743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Cursor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534924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All comms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95944" y="4892040"/>
            <a:ext cx="2423160" cy="1097280"/>
          </a:xfrm>
          <a:prstGeom prst="roundRect">
            <a:avLst>
              <a:gd name="adj" fmla="val 6000"/>
            </a:avLst>
          </a:prstGeom>
          <a:solidFill>
            <a:srgbClr val="0D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95944" y="4892040"/>
            <a:ext cx="2423160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0536" y="5074920"/>
            <a:ext cx="2423160" cy="2743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GitLab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534924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Change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Continuation — Where We Left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From standard to daily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Prior sessions: defined the Automation Bug Lifecycle standard (triage → evidence → notify → resolve)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Today: how we operationalize it with this repo, Cursor AI, and GitLab Project Manager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Goal: any engineer can run the full workflow in ~15 minutes per real defect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Not meeting-specific — QA Automation operating norm for all teams and programs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Evidence examples already in evidence/regression-reports/ — real failures, real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The Challenge —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Why we built this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Who merged or committed between last green run and failure?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Communications inconsistent — JIRA and email drafted differently every time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Evidence scattered — screenshots in chat, logs in CI, no single folder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Critical defects lacked clear accountability and resolution timeline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Tribal knowledge — process lived in people's heads, not the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The Solution — Repo + AI Agent + GitLab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Three tools, one repeatable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qa-automation-kb/automation-bug-lifecycle/ — prompts, process, evidence, deliverables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Evidence folder — drop screenshots, logs, report URL under regression-reports/MMDDYYYY/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Cursor Prompt H — one prompt → JIRA block + email + Teams in one .md file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GitLab Project Manager — change set: MRs, commits, authors in the failure window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Shell guide: WORKFLOW.md · Checklist: QUICK-START.md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Seven steps — every regression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313871" cy="4910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end_to_en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08176"/>
            <a:ext cx="10289364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06440"/>
            <a:ext cx="11094415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Detect → Triage → Evidence → Cursor H → JIRA/Notify → Change Set → 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Step 1 — Triage Before You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Decision tree — TRIAGE_RULES.md + FLAKINESS_PLAYBOOK.md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313871" cy="4910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triage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08176"/>
            <a:ext cx="7125194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06440"/>
            <a:ext cx="11094415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Environment and flaky failures do not enter the full bug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2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Act on a Real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01568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800" b="0">
                <a:solidFill>
                  <a:srgbClr val="05A2C6"/>
                </a:solidFill>
                <a:latin typeface="Segoe UI"/>
              </a:defRPr>
            </a:pPr>
            <a:r>
              <a:t>Evidence · Prompt H · Change set · Notify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Four Pillars of the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What your team runs on every real defect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5349240" cy="73152"/>
          </a:xfrm>
          <a:prstGeom prst="rect">
            <a:avLst/>
          </a:prstGeom>
          <a:solidFill>
            <a:srgbClr val="C2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200" b="1">
                <a:solidFill>
                  <a:srgbClr val="C2780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01368"/>
            <a:ext cx="4946904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600" b="1">
                <a:solidFill>
                  <a:srgbClr val="003241"/>
                </a:solidFill>
                <a:latin typeface="Segoe UI"/>
              </a:defRPr>
            </a:pPr>
            <a:r>
              <a:t>Triage &amp; classify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4946904" cy="11887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Segoe UI"/>
              </a:defRPr>
            </a:pPr>
            <a:r>
              <a:t>process/TRIAGE_RULES.md. Rerun locally. Env vs flaky vs defect. Do not log JIRA for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98448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98448"/>
            <a:ext cx="5349240" cy="73152"/>
          </a:xfrm>
          <a:prstGeom prst="rect">
            <a:avLst/>
          </a:prstGeom>
          <a:solidFill>
            <a:srgbClr val="02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46304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200" b="1">
                <a:solidFill>
                  <a:srgbClr val="026B8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01368"/>
            <a:ext cx="4946904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600" b="1">
                <a:solidFill>
                  <a:srgbClr val="003241"/>
                </a:solidFill>
                <a:latin typeface="Segoe UI"/>
              </a:defRPr>
            </a:pPr>
            <a:r>
              <a:t>Evidence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167128"/>
            <a:ext cx="4946904" cy="11887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Segoe UI"/>
              </a:defRPr>
            </a:pPr>
            <a:r>
              <a:t>evidence/regression-reports/[MMDDYYYY]/ — screenshots, logs, test data, one bug .md per issue. scripts/new-evidence-folder.ps1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3048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13048"/>
            <a:ext cx="5349240" cy="73152"/>
          </a:xfrm>
          <a:prstGeom prst="rect">
            <a:avLst/>
          </a:prstGeom>
          <a:solidFill>
            <a:srgbClr val="2D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7764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200" b="1">
                <a:solidFill>
                  <a:srgbClr val="2D65B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15968"/>
            <a:ext cx="4946904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600" b="1">
                <a:solidFill>
                  <a:srgbClr val="003241"/>
                </a:solidFill>
                <a:latin typeface="Segoe UI"/>
              </a:defRPr>
            </a:pPr>
            <a:r>
              <a:t>Cursor Prompt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81728"/>
            <a:ext cx="4946904" cy="11887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Segoe UI"/>
              </a:defRPr>
            </a:pPr>
            <a:r>
              <a:t>prompts/02-bug-report-prompt-h.md — JIRA block, failure email, Teams message, resolution placeholder in one 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13048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813048"/>
            <a:ext cx="5349240" cy="73152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97764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200" b="1">
                <a:solidFill>
                  <a:srgbClr val="009E8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315968"/>
            <a:ext cx="4946904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600" b="1">
                <a:solidFill>
                  <a:srgbClr val="003241"/>
                </a:solidFill>
                <a:latin typeface="Segoe UI"/>
              </a:defRPr>
            </a:pPr>
            <a:r>
              <a:t>GitLab change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681728"/>
            <a:ext cx="4946904" cy="11887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Segoe UI"/>
              </a:defRPr>
            </a:pPr>
            <a:r>
              <a:t>GitLab Project Manager — who merged, who committed, which branches between last green run and failure.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Evidence Folder — Copy Artifacts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BUG_REPORTING_PROCESS.md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313871" cy="4910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evidence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08176"/>
            <a:ext cx="8149975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06440"/>
            <a:ext cx="11094415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Naming: [MMDDYYYY]_[Feature]_[IssueType].md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Prompt H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One prompt, all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You have a dated evidence folder with screenshots and logs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Open prompts/02-bug-report-prompt-h.md — fill date, feature, error, report URL, file list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Attach failure images in Cursor chat and paste the prompt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Cursor writes ONE file with: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JIRA copy-paste block ready for QA board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Failure email — leadership-approved To/Cc (do not improvise)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Teams message with JIRA + report links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Resolution email placeholder for when bug is fixed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Then: create JIRA → send email → post Teams — copy from that one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Cursor + Repo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Integrated toolchain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4892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qa-automation-kb open in Cursor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Evidence under regression-reports/MMDDYYYY/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Prompt H → single bug .md output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Create JIRA from generated block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GitLab PM → change set extract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Paste JIRA link + change set back into Cursor (optional Prompt 03)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Dump email/Teams content — send as-is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98448"/>
            <a:ext cx="5477256" cy="5001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tool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408176"/>
            <a:ext cx="5257800" cy="22814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3368" y="3744518"/>
            <a:ext cx="5257800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Evidence → Comms →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Communication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Leadership-approved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Teams and email templates are approved by leadership and senior QA resources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Use Prompt H output — do not improvise distribution lists or email structure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To: AGS Tech Leads, AGS Chapter Leads, AGS Development, Brian Danilczyk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Cc: Rajib Akhter · Henry Dittmer · Phuong Huynh · Automation.Squad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Subject: [Priority] [Feature] — [Issue Type]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Sources: Confluence Bug Handling PDFs (1. Failure · 1b. Resolution)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GitLab Project Manager —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Change-set investigation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4892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Local utility: GitLabInfoProjUI (read-only GitLab API)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Manage Token — PAT with read_api scope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Select project + date range (last pass → failure)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Tabs: Merge Requests · Commits · Branches · Pipelines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Filter Merged · Search by author or branch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Export CSV/Excel or Copy to clipboard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98448"/>
            <a:ext cx="5477256" cy="5001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lab_project_manager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408176"/>
            <a:ext cx="5257800" cy="210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3368" y="3568213"/>
            <a:ext cx="5257800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Parameter panel — project, date presets, 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GitLab Project Manager — Sample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Who changed what — application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98448"/>
            <a:ext cx="4892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Project: monolith · Type: Merge Requests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Date range: last green run → failure date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Per MR: Title · Author · Reviewers · Merged by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Branch flow: source → target (e.g. feature/GRF-1394 → main)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Created At · Merged At (EST timestamps)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Paste Change Set section into JIRA comment or failure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5477256" cy="5001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lab_mr_results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08176"/>
            <a:ext cx="5257800" cy="3835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298564"/>
            <a:ext cx="5257800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Real output — MRs in window with authors and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Repository Investigation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Cross-reference MR authors with failing test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313871" cy="4910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repo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08176"/>
            <a:ext cx="8883384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06440"/>
            <a:ext cx="11094415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Start monolith (app) → automation → qa-automation → prime-test-automation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2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058400" cy="7772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01568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800" b="0">
                <a:solidFill>
                  <a:srgbClr val="05A2C6"/>
                </a:solidFill>
                <a:latin typeface="Segoe UI"/>
              </a:defRPr>
            </a:pPr>
            <a:r>
              <a:t>Lock · Respond · Resolve within 24 hours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Critical Defects — Main Lock &amp;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Accountability when the pipeline must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Legitimate critical defect → lock monolith/main + automation/main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Responsible party must respond immediately — name visible in change set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Target: resolution within 24 hours (revert or fix + verified regression)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Not for environment, data, or flaky failures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Notify: failure email + Teams from Prompt H output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Track: JIRA with change set comment until Verified → Closed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Close: resolution email → unlock main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Defect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JIRA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313871" cy="4910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defect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08176"/>
            <a:ext cx="11094415" cy="3004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4467777"/>
            <a:ext cx="11094415" cy="34747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process/DEFECT_LIFECYCLE.md · TRIAGE_RULES.md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Resolution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Confluence 1b. Automation Bug Resolution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Dev delivers fix or revert on affected branch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QA reruns impacted scenarios (full regression optional)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Update JIRA with RCA → Verified → Closed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Send resolution email — same To/Cc as failure (template 1b)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Unlock monolith/main + automation/main if locked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Update bug .md: JIRA link, Status Closed, resolution section filled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How Your Team Tries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Hands-on adoption — start with a real or sample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One-time: copy cursor-kit/SKILL.md → .cursor/skills/ · clone GitLab PM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Per failure: new-evidence-folder.ps1 → drop screenshots and logs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Triage: prompts/01 — env/flaky stops here; defect continues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Prompt H: prompts/02 — attach images → one .md with JIRA + email + Teams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Create JIRA, send email, post Teams — copy from generated file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GitLab PM: date range → paste change set → optional prompts/03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When fixed: prompts/04 resolution email · unlock main · close JIRA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Multi-Failure Rollup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When many tests fail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Large nightly failures (e.g. 62/358) — group by feature/plan, not per test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Build failure matrix with root-cause hints per traunch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One JIRA per root cause — umbrella + children when needed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Single combined email/Teams with matrix reference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prompts/05-multi-failure-rollup.md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Repository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If it's not in the repo, treat as unknown — per ROLE.md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WORKFLOW.md — detailed shell guide (this presentation's companion)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evidence/regression-reports/ — drop zone + real examples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prompts/ 01–05 — triage, Prompt H, change set, resolution, rollup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process/ — TRIAGE_RULES, FLAKINESS_PLAYBOOK, DEFECT_LIFECYCLE, RCA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deliverables/ — this deck + Automation-Bug-Lifecycle-Playbook.docx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qa-knowledge-base/00_SYSTEM/PROMPTS.md — master Prompt H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6000"/>
            </a:avLst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1300" b="0">
                <a:solidFill>
                  <a:srgbClr val="05A2C6"/>
                </a:solidFill>
                <a:latin typeface="Segoe UI"/>
              </a:defRPr>
            </a:pPr>
            <a:r>
              <a:t>QA Automation operating norm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Visibility solved: evidence folder + change set + consistent comms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Triage first — not every failure is a defect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One folder · one Prompt H run · one bug .md per issue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Dump and send — leadership-approved templates, no improvisation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Critical defects: lock main, responsible party responds, 24-hour resolution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Full playbook: deliverables/Automation-Bug-Lifecycle-Playbook.docx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Automation Standard  ·  Automation Bug Lifecycle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640080" cy="256032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